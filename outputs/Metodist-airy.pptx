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e984de8a942d2" /><Relationship Type="http://schemas.openxmlformats.org/officeDocument/2006/relationships/extended-properties" Target="/docProps/app.xml" Id="R17da7ebf35834eb3" /><Relationship Type="http://schemas.openxmlformats.org/officeDocument/2006/relationships/officeDocument" Target="/ppt/presentation.xml" Id="R059cf665485d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5cc7a64a148c1"/>
  </p:sldMasterIdLst>
  <p:notesMasterIdLst>
    <p:notesMasterId xmlns:r="http://schemas.openxmlformats.org/officeDocument/2006/relationships" r:id="R519a38208dc54d35"/>
  </p:notesMasterIdLst>
  <p:sldIdLst>
    <p:sldId xmlns:r="http://schemas.openxmlformats.org/officeDocument/2006/relationships" id="256" r:id="R31d73948d38044a1"/>
    <p:sldId xmlns:r="http://schemas.openxmlformats.org/officeDocument/2006/relationships" id="257" r:id="R6aacb8ebba974dac"/>
    <p:sldId xmlns:r="http://schemas.openxmlformats.org/officeDocument/2006/relationships" id="258" r:id="R3de0ed49090042d9"/>
    <p:sldId xmlns:r="http://schemas.openxmlformats.org/officeDocument/2006/relationships" id="259" r:id="R90d388aeb4a94f36"/>
    <p:sldId xmlns:r="http://schemas.openxmlformats.org/officeDocument/2006/relationships" id="260" r:id="R07fab0339be5426c"/>
    <p:sldId xmlns:r="http://schemas.openxmlformats.org/officeDocument/2006/relationships" id="261" r:id="R7ecb88bee229468a"/>
    <p:sldId xmlns:r="http://schemas.openxmlformats.org/officeDocument/2006/relationships" id="262" r:id="R6b9a50cc706f4849"/>
    <p:sldId xmlns:r="http://schemas.openxmlformats.org/officeDocument/2006/relationships" id="263" r:id="Rc81865657ded4ae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dd330faaa4546" /><Relationship Type="http://schemas.openxmlformats.org/officeDocument/2006/relationships/slideMaster" Target="/ppt/slideMasters/slideMaster1.xml" Id="R55e5cc7a64a148c1" /><Relationship Type="http://schemas.openxmlformats.org/officeDocument/2006/relationships/notesMaster" Target="/ppt/notesMasters/notesMaster1.xml" Id="R519a38208dc54d35" /><Relationship Type="http://schemas.openxmlformats.org/officeDocument/2006/relationships/presProps" Target="/ppt/presProps.xml" Id="Rd97e61a816904191" /><Relationship Type="http://schemas.openxmlformats.org/officeDocument/2006/relationships/tableStyles" Target="/ppt/tableStyles.xml" Id="Raa364063ce894818" /><Relationship Type="http://schemas.openxmlformats.org/officeDocument/2006/relationships/slide" Target="/ppt/slides/slide1.xml" Id="R31d73948d38044a1" /><Relationship Type="http://schemas.openxmlformats.org/officeDocument/2006/relationships/slide" Target="/ppt/slides/slide2.xml" Id="R6aacb8ebba974dac" /><Relationship Type="http://schemas.openxmlformats.org/officeDocument/2006/relationships/slide" Target="/ppt/slides/slide3.xml" Id="R3de0ed49090042d9" /><Relationship Type="http://schemas.openxmlformats.org/officeDocument/2006/relationships/slide" Target="/ppt/slides/slide4.xml" Id="R90d388aeb4a94f36" /><Relationship Type="http://schemas.openxmlformats.org/officeDocument/2006/relationships/slide" Target="/ppt/slides/slide5.xml" Id="R07fab0339be5426c" /><Relationship Type="http://schemas.openxmlformats.org/officeDocument/2006/relationships/slide" Target="/ppt/slides/slide6.xml" Id="R7ecb88bee229468a" /><Relationship Type="http://schemas.openxmlformats.org/officeDocument/2006/relationships/slide" Target="/ppt/slides/slide7.xml" Id="R6b9a50cc706f4849" /><Relationship Type="http://schemas.openxmlformats.org/officeDocument/2006/relationships/slide" Target="/ppt/slides/slide8.xml" Id="Rc81865657ded4a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a9537eb61342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f108d860a49ec" /><Relationship Type="http://schemas.openxmlformats.org/officeDocument/2006/relationships/notesMaster" Target="/ppt/notesMasters/notesMaster1.xml" Id="Rd8b0cd80df75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73f7e25f864622" /><Relationship Type="http://schemas.openxmlformats.org/officeDocument/2006/relationships/notesMaster" Target="/ppt/notesMasters/notesMaster1.xml" Id="R6ada8a47099b47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4f3a4fd64d4fad" /><Relationship Type="http://schemas.openxmlformats.org/officeDocument/2006/relationships/notesMaster" Target="/ppt/notesMasters/notesMaster1.xml" Id="R4828532061314a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b51e2f92b414d" /><Relationship Type="http://schemas.openxmlformats.org/officeDocument/2006/relationships/notesMaster" Target="/ppt/notesMasters/notesMaster1.xml" Id="Red081bebd92946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0a1ab322bc4dda" /><Relationship Type="http://schemas.openxmlformats.org/officeDocument/2006/relationships/notesMaster" Target="/ppt/notesMasters/notesMaster1.xml" Id="Rb0a43029a5104c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7d3eba112648c5" /><Relationship Type="http://schemas.openxmlformats.org/officeDocument/2006/relationships/notesMaster" Target="/ppt/notesMasters/notesMaster1.xml" Id="R1ad1229c592c48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b6d615db394d2d" /><Relationship Type="http://schemas.openxmlformats.org/officeDocument/2006/relationships/notesMaster" Target="/ppt/notesMasters/notesMaster1.xml" Id="R382156dd497441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0af4dedaf9443b" /><Relationship Type="http://schemas.openxmlformats.org/officeDocument/2006/relationships/notesMaster" Target="/ppt/notesMasters/notesMaster1.xml" Id="Ra16cb0b4af9545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Пхукетская. Концепция, работающий сервис ещё не реализован.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пользователь — методист АЦР. Он знает требования к образовательной программе, но не обязан глубоко разбираться в каждом ИТ-направлении. Материалы готовят разные специалисты, поэтому часы расходятся, темы повторяются, а компетенции не всегда проверяются. Исходный срок 2–8 недель приведён кейсодателем: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Поддерживаем повышение квалификации, включая стажировки, и общеразвивающие программы. Методист утверждает цель, компетенции и часы до генерации содержания. Карта компетенций связана с темами, вопросами и заданиями. Тесты имеют ключи, задания — критерии. Слайды готовим для лекций курса. Модели и эмбеддинги из Cloud.ru Evolution Foundation Models, проверка через единый API. Реквизиты приказов, ФИО и подписи не заполняем. Учитываем законные основания обработки данных по 152-ФЗ; проектные требования не означают пройденную сертификацию. {"case":"https://hub.gigaschool.ru/events/tochka-sborki-2026/cases/sber-edu-agent","pd":"https://www.consultant.ru/document/cons_doc_LAW_61801/","edu":"https://publication.pravo.gov.ru/document/view/0001201212300007","dpo":"https://publication.pravo.gov.ru/document/0001202504230011","general":"http://publication.pravo.gov.ru/Document/View/0001202209270013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экран — массовая загрузка материалов. Извлечённые ответы подтверждаются, опросник спрашивает только недостающее. Каркас виден целиком. После согласования готовится комплект для всего курса. Методист редактирует материалы вручную или в диалоге. ИИ показывает основную правку и зависимые изменения одним пакетом до применения. После генерации и каждой сохранённой или принятой правки проверка запускается автоматически.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ImageGen. Слева половина экрана с предпросмотром документа, вкладками материалов, ручным редактированием и режимом структурированного редактора. Справа сверху параметры программы, снизу диалог с ИИ. Каждая область разворачивается на весь экран. Это концепция интерфейса, а не работающий сервис.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2–8 недель из кейса АЦР. Цель команды — полный цикл за 1–2 дня. Минимальное ускорение 7 раз рассчитано по календарному сроку, не по затратам. Реальных замеров пока нет. Экономика: сэкономленные часы специалистов × ставка − стоимость генерации. Для методиста это меньше ручной сборки и сверки; для АЦР — более быстрый запуск программ.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Пригодность означает небольшие адресные правки после проверки экспертом, а не переписывание каждой темы и каждого слайда. Ориентир &gt;=90% материалов без существенной переработки проверяет эксперт. Часы, связи результатов обучения и оценочных средств и полнота шаблонов проверяются по открытым чек-листам и новым запросам. Каждому результату обучения соответствует тема и не менее двух оценочных средств. Считаем трудозатраты, долю исправленных материалов и токены, включая повторную генерацию. Ограничения скорости взяты из кейса.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Концепция. Цель — полный комплект с минимальными правками и контролем методиста.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133d23f8c40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af798f8024b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e4037c3ff43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c4f90c48b49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5dd7872edc45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6ebd8a97e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3C6CE6-28E6-405B-B226-AC1B695974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F6CA8B-A5D2-46CB-83AA-D9E331203C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790F5B-E864-4808-A710-4429867A8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A6317A-005C-4CB2-85B0-75217A4012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F00F56-4F1B-4E0F-B22D-18ED3D474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C6717E-3332-4813-A6B5-63E1D3AE8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F712A6-1F30-4461-B024-10E265D7C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5FB8F0-7E1F-49A7-8C82-3D56E03381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5525D2-6E6A-4EF4-826C-0EDA6BBA40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CB4CD3-E24F-49DB-BA50-D2CE3A18A9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6a07760c91493f" /><Relationship Type="http://schemas.openxmlformats.org/officeDocument/2006/relationships/slideLayout" Target="/ppt/slideLayouts/slideLayout1.xml" Id="R9b62f77193a54977" /><Relationship Type="http://schemas.openxmlformats.org/officeDocument/2006/relationships/slideLayout" Target="/ppt/slideLayouts/slideLayout2.xml" Id="R84906943c42d4a82" /><Relationship Type="http://schemas.openxmlformats.org/officeDocument/2006/relationships/slideLayout" Target="/ppt/slideLayouts/slideLayout3.xml" Id="Re2dc2165993c496c" /><Relationship Type="http://schemas.openxmlformats.org/officeDocument/2006/relationships/slideLayout" Target="/ppt/slideLayouts/slideLayout4.xml" Id="Rf1e70f5616084741" /><Relationship Type="http://schemas.openxmlformats.org/officeDocument/2006/relationships/slideLayout" Target="/ppt/slideLayouts/slideLayout5.xml" Id="R8c88177e75c94587" /><Relationship Type="http://schemas.openxmlformats.org/officeDocument/2006/relationships/slideLayout" Target="/ppt/slideLayouts/slideLayout6.xml" Id="Ra373a4c8d1114e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2f77193a54977"/>
    <p:sldLayoutId xmlns:r="http://schemas.openxmlformats.org/officeDocument/2006/relationships" id="2147483650" r:id="R84906943c42d4a82"/>
    <p:sldLayoutId xmlns:r="http://schemas.openxmlformats.org/officeDocument/2006/relationships" id="2147483651" r:id="Re2dc2165993c496c"/>
    <p:sldLayoutId xmlns:r="http://schemas.openxmlformats.org/officeDocument/2006/relationships" id="2147483652" r:id="Rf1e70f5616084741"/>
    <p:sldLayoutId xmlns:r="http://schemas.openxmlformats.org/officeDocument/2006/relationships" id="2147483653" r:id="R8c88177e75c94587"/>
    <p:sldLayoutId xmlns:r="http://schemas.openxmlformats.org/officeDocument/2006/relationships" id="2147483654" r:id="Ra373a4c8d1114e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9082e3ef147d7" /><Relationship Type="http://schemas.openxmlformats.org/officeDocument/2006/relationships/notesSlide" Target="/ppt/notesSlides/notesSlide1.xml" Id="Re5869bfe3f9f4f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38fbe28624f06" /><Relationship Type="http://schemas.openxmlformats.org/officeDocument/2006/relationships/hyperlink" Target="https://hub.gigaschool.ru/events/tochka-sborki-2026/cases/sber-edu-agent" TargetMode="External" Id="R49f53846c40c486c" /><Relationship Type="http://schemas.openxmlformats.org/officeDocument/2006/relationships/notesSlide" Target="/ppt/notesSlides/notesSlide2.xml" Id="Rfa9698e73bd648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c93c5e05c4db7" /><Relationship Type="http://schemas.openxmlformats.org/officeDocument/2006/relationships/hyperlink" Target="https://www.consultant.ru/document/cons_doc_LAW_61801/" TargetMode="External" Id="R6764c72d786c4cd6" /><Relationship Type="http://schemas.openxmlformats.org/officeDocument/2006/relationships/hyperlink" Target="https://publication.pravo.gov.ru/document/view/0001201212300007" TargetMode="External" Id="R4f0cedac39e34db9" /><Relationship Type="http://schemas.openxmlformats.org/officeDocument/2006/relationships/hyperlink" Target="https://publication.pravo.gov.ru/document/0001202504230011" TargetMode="External" Id="Rd12f0edcb78e4b17" /><Relationship Type="http://schemas.openxmlformats.org/officeDocument/2006/relationships/hyperlink" Target="http://publication.pravo.gov.ru/Document/View/0001202209270013" TargetMode="External" Id="R961d6acc75ed4843" /><Relationship Type="http://schemas.openxmlformats.org/officeDocument/2006/relationships/notesSlide" Target="/ppt/notesSlides/notesSlide3.xml" Id="Ra9ce9c431e1c4f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e9da9269c4013" /><Relationship Type="http://schemas.openxmlformats.org/officeDocument/2006/relationships/notesSlide" Target="/ppt/notesSlides/notesSlide4.xml" Id="Re217939fb81c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887d960b0749fc" /><Relationship Type="http://schemas.openxmlformats.org/officeDocument/2006/relationships/image" Target="/ppt/media/image.png" Id="Rbe0850157dec4486" /><Relationship Type="http://schemas.openxmlformats.org/officeDocument/2006/relationships/notesSlide" Target="/ppt/notesSlides/notesSlide5.xml" Id="Red2bef0021f0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3df09844d4b39" /><Relationship Type="http://schemas.openxmlformats.org/officeDocument/2006/relationships/notesSlide" Target="/ppt/notesSlides/notesSlide6.xml" Id="Rb680b381a27640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34b7529564902" /><Relationship Type="http://schemas.openxmlformats.org/officeDocument/2006/relationships/notesSlide" Target="/ppt/notesSlides/notesSlide7.xml" Id="R2282a0453bb841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d5fb37e374c74" /><Relationship Type="http://schemas.openxmlformats.org/officeDocument/2006/relationships/notesSlide" Target="/ppt/notesSlides/notesSlide8.xml" Id="R675c285aa3e644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55911-505C-469E-8BC3-A7034AD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9ECCA-A878-4805-BC12-4D9CB8FB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90768-841F-4DF7-8226-E6BD248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Матвей Мусиенко — капитан</a:t>
            </a:r>
          </a:p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Захар Толошный — участник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1E57D-8353-4CC4-9C88-49B92844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14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Продуктовый хакатон «Точка сборки»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ED045-EAD2-49B4-B626-E60E779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3144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8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8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FE61A-0937-4A21-9DCD-C0B3E67C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1181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Программа курса и учебные материалы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29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в одном рабочем пространстве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C744C-944D-4FB3-BFAF-7F817CB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Кейс АЦР и GigaCowork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23767-6984-4410-B100-F09DB9E0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581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7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Концепция / 15.10.2026</a:t>
            </a:r>
          </a:p>
        </p:txBody>
      </p:sp>
    </p:spTree>
    <p:extLst>
      <p:ext uri="{BB962C8B-B14F-4D97-AF65-F5344CB8AC3E}">
        <p14:creationId xmlns:p14="http://schemas.microsoft.com/office/powerpoint/2010/main" val="1131975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9A053-FB08-46EB-823B-649A3B4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F0290-9F49-40B0-90FA-CACAD529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D76B-5338-4A6D-ACB6-EE95C30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Задача бизнеса и пользователь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3BE6F-1960-416A-A783-5A19899A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B5843-21B2-4E9E-AD24-13F6E05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87B87-AF3D-434D-8C41-DA2F4B5B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523875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63F30-E2E3-422A-A8C1-3F6CFF36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860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82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82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2–8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25060-EB35-456B-8470-F9F608C5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недель на подготовку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8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одной программы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A7A7F-A278-43D9-83E9-B222A71D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По данным АЦР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912B3-B7BD-4BEF-A289-8EAAE722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05D3A-FDD9-4EFB-A9B7-3A3BD5A7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Собирает программу, часы и материалы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13C4F-5E9B-44D2-8D25-A36C443E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05225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Эксперт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AB51F-50FE-45C9-A158-1CC9226D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957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Проверяет содержание и результаты обучения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48907-BBE7-49FF-B5BE-2E0B44B6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Руководитель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F5017-0B2A-478D-91A8-8D41AB3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Утверждает программу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37ECE-36D9-4FCB-9074-3549AE1F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24675"/>
            <a:ext cx="1352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Проблема: ошибки в часах, разрозненные файлы и повторные согласования.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6B08D-EF4C-40BF-8AD8-390039DC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81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49f53846c40c486c"/>
              </a:rPr>
              <a:t>Источник: кейс АЦР</a:t>
            </a:r>
          </a:p>
        </p:txBody>
      </p:sp>
    </p:spTree>
    <p:extLst>
      <p:ext uri="{BB962C8B-B14F-4D97-AF65-F5344CB8AC3E}">
        <p14:creationId xmlns:p14="http://schemas.microsoft.com/office/powerpoint/2010/main" val="450806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7E37A-1E55-4005-99C7-262F0B5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7E53D-8297-4BAC-8FF0-03A0A924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775A1-EECC-4284-8F9A-3A560EB9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Требования кейса и законодательства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E6242-7EBD-426C-B51C-6F3F344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8B2B2-872F-4823-8E8A-13C7BA4B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0924F-3B72-4B40-A74A-34A932E5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Полный комплект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EA3F4-A7A7-48EB-AD28-1F9A5A04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6572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Два шаблона АЦР, программы 16–500 часов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Референсы: DOCX, PDF и текст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Компетенции, планы, тесты, задания и слайды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Экспорт: DOCX, PPTX и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244CA-9BC2-46EB-BBA9-22EF9F6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86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Контроль качества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9CF36-53A7-434F-8E90-715DAFC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61912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Cloud.ru, без зарубежных API моделей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Структура и правки — с подтверждением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Автопроверка часов и связей материалов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Только подтверждённые источники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01B4C-E084-4D5D-8FC9-D619CA87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13716000" cy="1543050"/>
          </a:xfrm>
          <a:prstGeom xmlns:a="http://schemas.openxmlformats.org/drawingml/2006/main" prst="roundRect">
            <a:avLst>
              <a:gd name="adj" fmla="val 13580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185B1-3630-4912-B161-B86E503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91250"/>
            <a:ext cx="1285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273-ФЗ и приказы № 266 / № 629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5A0AC-78C0-473F-AA27-2AF0F1FC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772275"/>
            <a:ext cx="12858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152-ФЗ: минимизация персональных данных, ограничение доступа и защита.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Учебные примеры — на обезличенных данных.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0F41F-A7A9-41C5-B5E9-573D35F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819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6764c72d786c4cd6"/>
              </a:rPr>
              <a:t>152-ФЗ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4D825-38F0-427C-BC19-C14158B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7819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4f0cedac39e34db9"/>
              </a:rPr>
              <a:t>273-ФЗ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67F23-68FB-4B68-B03D-B93DC106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781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d12f0edcb78e4b17"/>
              </a:rPr>
              <a:t>Приказ № 266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BEDD8-5458-4E0A-BA24-200F18EB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781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961d6acc75ed4843"/>
              </a:rPr>
              <a:t>Приказ № 629</a:t>
            </a:r>
          </a:p>
        </p:txBody>
      </p:sp>
    </p:spTree>
    <p:extLst>
      <p:ext uri="{BB962C8B-B14F-4D97-AF65-F5344CB8AC3E}">
        <p14:creationId xmlns:p14="http://schemas.microsoft.com/office/powerpoint/2010/main" val="1101218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462C1-33DC-4609-9572-D70339EF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0D6DB-6204-4B69-BF60-EE87CB9C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A64E7-0381-40B1-B5D0-D3B53634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Как работает «Методист»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E6736-3C00-4ED7-AC28-7B778790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D8599-B82B-4EAD-B7B4-C6030254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4548F-8AAA-4FFA-BD36-FE35A98E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A7B34-2364-49AF-86D6-F272D52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241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Задать курс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BBC20-EA13-4773-B4D6-49A53A38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3375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Загрузить файлы и уточнить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недостающие параметры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9EB5F-30B4-4364-98E6-CF3E506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8D3F5-A9E2-46F0-BED8-07A312A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24125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Согласовать структуру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BFA8F-9EF8-44F1-B6A7-C90F6297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33750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Цель, компетенции, темы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и распределение часов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15133-8C11-4E59-9B40-013688B0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8B9BC-E8CA-4317-8B67-AE8C1F76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77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Получить весь комплект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F72EE-9C6B-4119-801D-BEF69CB7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6737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Программа, тесты, задания,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лекции и слайды с автопроверкой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12C9B-44B4-4E9A-ACB0-192E59B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904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3871F-F455-4EC2-BB1F-9B545966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57750"/>
            <a:ext cx="561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Внести правки и выгрузить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C2767-DF08-4AB8-B2CF-ED011B17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6737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Самостоятельно или через ИИ.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Связанные изменения — одним пакетом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58170-3D3F-4B3A-9AF7-0DA34814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600950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Пример: анализ данных на Python для сотрудников банка, 72 часа</a:t>
            </a:r>
          </a:p>
        </p:txBody>
      </p:sp>
    </p:spTree>
    <p:extLst>
      <p:ext uri="{BB962C8B-B14F-4D97-AF65-F5344CB8AC3E}">
        <p14:creationId xmlns:p14="http://schemas.microsoft.com/office/powerpoint/2010/main" val="1452464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43A38-A490-4121-BD64-EA3C7122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3D61C-7D17-4F0D-9CC6-0C4325C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388E0-6FCB-4878-9A40-E93CD942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Рабочее пространство методиста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9AC68-FC44-4856-BAF2-4F196FD5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DA58B-23A8-42ED-9B93-66DD56F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9346E-AD6E-4E4E-A8D8-13D7252F15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850157dec4486"/>
          <a:stretch xmlns:a="http://schemas.openxmlformats.org/drawingml/2006/main"/>
        </p:blipFill>
        <p:spPr>
          <a:xfrm xmlns:a="http://schemas.openxmlformats.org/drawingml/2006/main">
            <a:off x="2594602" y="1552575"/>
            <a:ext cx="10050795" cy="628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8FAF6-55E7-45B3-BDD1-EB33B05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15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Концепт интерфейса / заполненный курс на 72 часа</a:t>
            </a:r>
          </a:p>
        </p:txBody>
      </p:sp>
    </p:spTree>
    <p:extLst>
      <p:ext uri="{BB962C8B-B14F-4D97-AF65-F5344CB8AC3E}">
        <p14:creationId xmlns:p14="http://schemas.microsoft.com/office/powerpoint/2010/main" val="1835518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15847-9897-44CC-94C6-3154D20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89B3C-528C-4653-AD1B-4F855F5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FFB8E-9D3E-4DB7-9B2D-91F7FEB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Меньше времени на подготовку курса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28FBA-DB3A-40F3-9607-61DEFB14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F11A6-C3E6-4037-8441-7695DB66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7F588-928F-4C4C-B245-7AA8691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5048250" cy="4000500"/>
          </a:xfrm>
          <a:prstGeom xmlns:a="http://schemas.openxmlformats.org/drawingml/2006/main" prst="roundRect">
            <a:avLst>
              <a:gd name="adj" fmla="val 5238"/>
            </a:avLst>
          </a:prstGeom>
          <a:solidFill xmlns:a="http://schemas.openxmlformats.org/drawingml/2006/main">
            <a:srgbClr val="EEFA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25B74-A337-48BE-90C6-0CB5281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19400"/>
            <a:ext cx="4333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765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765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от 7×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ED4A7-9014-4730-8743-3743076A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цель ускорения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6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подготовки курса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83FB5-12C5-4F2F-9E7C-EB13930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AEF44-4049-4DF6-A505-5FD284E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2–8 недель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11E9D-DED6-4CA8-843E-D56AD5B2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Цель с сервисом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F089F-C05C-4DA5-A94C-4A45161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24425"/>
            <a:ext cx="704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1–2 дня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E12C8-33EB-4CAF-85D6-DD7A1CF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704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До 20 минут на генерацию,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затем проверка и адресные правки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150C-3D58-41F3-9F35-15D32A6E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86650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Гипотеза: 14 календарных дней / 2 дня = 7. Экономию затрат измерим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90311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FE5D2-FCE0-44D4-91E0-235B5576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8600"/>
            <a:ext cx="14782800" cy="8115300"/>
          </a:xfrm>
          <a:prstGeom xmlns:a="http://schemas.openxmlformats.org/drawingml/2006/main" prst="roundRect">
            <a:avLst>
              <a:gd name="adj" fmla="val 3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30A63-4687-4609-A389-2EA425AE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A944"/>
                </a:solidFill>
                <a:latin typeface="Arial"/>
                <a:ea typeface="Arial"/>
                <a:cs typeface="Arial"/>
              </a:rPr>
              <a:t>ВОПРОС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3CEE-ECBB-4795-92F8-90F8235E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3868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Готовность первой итерации к работе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6BD5C-C01B-4321-8978-A3257BC9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D83DA-E56C-4F6D-A223-EC58D64D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767DD-99B7-42FB-8582-B1EF5854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4FB35-80F1-4BC3-9BED-62DA8E0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материалов без существенной переработки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751C9-19AE-4DEC-B9DB-6171491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90F6D-CC35-4355-8661-26CF5628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4807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расхождений в часах и непроверенных источников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53FED-ED03-4F08-B0C8-2AC13488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75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≤3 / ≤20 мин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D1DCB-1E15-427F-8717-9E407C2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4822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каркас / комплект курса на 72 часа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A2C58-CCC7-407C-A8C0-DC5FEA6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3407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00" b="0">
                <a:solidFill>
                  <a:srgbClr val="00A944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00A944"/>
                </a:solidFill>
                <a:latin typeface="Arial"/>
                <a:ea typeface="Arial"/>
                <a:cs typeface="Arial"/>
              </a:rPr>
              <a:t>1–2 дня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312B0-A983-4767-A9DC-47D4695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48375"/>
            <a:ext cx="814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полный цикл подготовки с проверкой человеком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3FC5B-F665-4CD3-8391-956655F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58075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Пилот: доля исправлений, время методиста, стоимость ИИ.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Все значения — цели, а не результаты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445016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A0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CE4B5-A712-4D83-8946-C2B71FBE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76300"/>
            <a:ext cx="1362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64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31F0A-939C-4DC4-AF04-454DC528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33700"/>
            <a:ext cx="1362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Комплект курса,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готовый к экспертной проверке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6296C-5C83-4839-B0F5-B70A87D9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924550"/>
            <a:ext cx="1352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DC096-C07E-48FE-B113-17C5A2A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81850"/>
            <a:ext cx="1295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Матвей Мусиенко и Захар Толошный</a:t>
            </a:r>
          </a:p>
        </p:txBody>
      </p:sp>
    </p:spTree>
    <p:extLst>
      <p:ext uri="{BB962C8B-B14F-4D97-AF65-F5344CB8AC3E}">
        <p14:creationId xmlns:p14="http://schemas.microsoft.com/office/powerpoint/2010/main" val="18552391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2026-10-15T13:42:00.9570000Z</dcterms:created>
  <dcterms:modified xsi:type="dcterms:W3CDTF">2026-10-15T13:42:00.9570000Z</dcterms:modified>
</coreProperties>
</file>