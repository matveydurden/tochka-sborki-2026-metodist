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d721bca571409b" /><Relationship Type="http://schemas.openxmlformats.org/officeDocument/2006/relationships/extended-properties" Target="/docProps/app.xml" Id="R14cf15b1543a4bbc" /><Relationship Type="http://schemas.openxmlformats.org/officeDocument/2006/relationships/officeDocument" Target="/ppt/presentation.xml" Id="Rc54fc519ae5f46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0ec54226e542f8"/>
  </p:sldMasterIdLst>
  <p:notesMasterIdLst>
    <p:notesMasterId xmlns:r="http://schemas.openxmlformats.org/officeDocument/2006/relationships" r:id="R0058ddc3e7dc4d15"/>
  </p:notesMasterIdLst>
  <p:sldIdLst>
    <p:sldId xmlns:r="http://schemas.openxmlformats.org/officeDocument/2006/relationships" id="256" r:id="R4b85169c279441fd"/>
    <p:sldId xmlns:r="http://schemas.openxmlformats.org/officeDocument/2006/relationships" id="257" r:id="Rcb64e47fbc884271"/>
    <p:sldId xmlns:r="http://schemas.openxmlformats.org/officeDocument/2006/relationships" id="258" r:id="R0f2be6b045d34f76"/>
    <p:sldId xmlns:r="http://schemas.openxmlformats.org/officeDocument/2006/relationships" id="259" r:id="R7fe59bb12e734108"/>
    <p:sldId xmlns:r="http://schemas.openxmlformats.org/officeDocument/2006/relationships" id="260" r:id="R46e4f7e57b924744"/>
    <p:sldId xmlns:r="http://schemas.openxmlformats.org/officeDocument/2006/relationships" id="261" r:id="R90ded61bdf3b4f10"/>
    <p:sldId xmlns:r="http://schemas.openxmlformats.org/officeDocument/2006/relationships" id="262" r:id="Ra5fe8972b9f64a98"/>
    <p:sldId xmlns:r="http://schemas.openxmlformats.org/officeDocument/2006/relationships" id="263" r:id="R64b97d28e71642c2"/>
    <p:sldId xmlns:r="http://schemas.openxmlformats.org/officeDocument/2006/relationships" id="264" r:id="R5d81f8b9d6e84dd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130ab71aae4d39" /><Relationship Type="http://schemas.openxmlformats.org/officeDocument/2006/relationships/slideMaster" Target="/ppt/slideMasters/slideMaster1.xml" Id="R970ec54226e542f8" /><Relationship Type="http://schemas.openxmlformats.org/officeDocument/2006/relationships/notesMaster" Target="/ppt/notesMasters/notesMaster1.xml" Id="R0058ddc3e7dc4d15" /><Relationship Type="http://schemas.openxmlformats.org/officeDocument/2006/relationships/presProps" Target="/ppt/presProps.xml" Id="Rb7a90c1c347d4873" /><Relationship Type="http://schemas.openxmlformats.org/officeDocument/2006/relationships/tableStyles" Target="/ppt/tableStyles.xml" Id="Re9d132c006834ce8" /><Relationship Type="http://schemas.openxmlformats.org/officeDocument/2006/relationships/slide" Target="/ppt/slides/slide1.xml" Id="R4b85169c279441fd" /><Relationship Type="http://schemas.openxmlformats.org/officeDocument/2006/relationships/slide" Target="/ppt/slides/slide2.xml" Id="Rcb64e47fbc884271" /><Relationship Type="http://schemas.openxmlformats.org/officeDocument/2006/relationships/slide" Target="/ppt/slides/slide3.xml" Id="R0f2be6b045d34f76" /><Relationship Type="http://schemas.openxmlformats.org/officeDocument/2006/relationships/slide" Target="/ppt/slides/slide4.xml" Id="R7fe59bb12e734108" /><Relationship Type="http://schemas.openxmlformats.org/officeDocument/2006/relationships/slide" Target="/ppt/slides/slide5.xml" Id="R46e4f7e57b924744" /><Relationship Type="http://schemas.openxmlformats.org/officeDocument/2006/relationships/slide" Target="/ppt/slides/slide6.xml" Id="R90ded61bdf3b4f10" /><Relationship Type="http://schemas.openxmlformats.org/officeDocument/2006/relationships/slide" Target="/ppt/slides/slide7.xml" Id="Ra5fe8972b9f64a98" /><Relationship Type="http://schemas.openxmlformats.org/officeDocument/2006/relationships/slide" Target="/ppt/slides/slide8.xml" Id="R64b97d28e71642c2" /><Relationship Type="http://schemas.openxmlformats.org/officeDocument/2006/relationships/slide" Target="/ppt/slides/slide9.xml" Id="R5d81f8b9d6e84d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d3c962ee8e46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d6c69a0aec474d" /><Relationship Type="http://schemas.openxmlformats.org/officeDocument/2006/relationships/notesMaster" Target="/ppt/notesMasters/notesMaster1.xml" Id="Rae6beed721d447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3221a0ea3e4797" /><Relationship Type="http://schemas.openxmlformats.org/officeDocument/2006/relationships/notesMaster" Target="/ppt/notesMasters/notesMaster1.xml" Id="R3f4a4f71dafb40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50869a6cef4f42" /><Relationship Type="http://schemas.openxmlformats.org/officeDocument/2006/relationships/notesMaster" Target="/ppt/notesMasters/notesMaster1.xml" Id="R1cc36c890d7f4c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08ca25563f41d9" /><Relationship Type="http://schemas.openxmlformats.org/officeDocument/2006/relationships/notesMaster" Target="/ppt/notesMasters/notesMaster1.xml" Id="R60290202fcc044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a0570b2af04fe8" /><Relationship Type="http://schemas.openxmlformats.org/officeDocument/2006/relationships/notesMaster" Target="/ppt/notesMasters/notesMaster1.xml" Id="Rbd1f9c9faba34d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b717193b964d38" /><Relationship Type="http://schemas.openxmlformats.org/officeDocument/2006/relationships/notesMaster" Target="/ppt/notesMasters/notesMaster1.xml" Id="R1b94b3af1acd41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3a93f2f03f4bf7" /><Relationship Type="http://schemas.openxmlformats.org/officeDocument/2006/relationships/notesMaster" Target="/ppt/notesMasters/notesMaster1.xml" Id="R49208ff38e1048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9ddf3bcc464d92" /><Relationship Type="http://schemas.openxmlformats.org/officeDocument/2006/relationships/notesMaster" Target="/ppt/notesMasters/notesMaster1.xml" Id="Rb54797162b9143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6d8fe12c2a4df5" /><Relationship Type="http://schemas.openxmlformats.org/officeDocument/2006/relationships/notesMaster" Target="/ppt/notesMasters/notesMaster1.xml" Id="R3c4c70a1d21049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Команда: Матвей Мусиенко и Захар Толошный. Концепция для кейса № 1. Источник: https://hub.gigaschool.ru/events/tochka-sborki-2026/cases/sber-edu-agent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исходного срока и проблем: https://hub.gigaschool.ru/events/tochka-sborki-2026/cases/sber-edu-agent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Нормативные источники: {"case":"https://hub.gigaschool.ru/events/tochka-sborki-2026/cases/sber-edu-agent","pd":"https://www.consultant.ru/document/cons_doc_LAW_61801/","edu":"https://publication.pravo.gov.ru/document/view/0001201212300007","dpo":"https://publication.pravo.gov.ru/document/0001202504230011","general":"http://publication.pravo.gov.ru/Document/View/0001202209270013"}. Приказ № 266 от 24.03.2025 заменил № 499 с 01.09.2025. Это проектные требования, не заявление о пройденной правовой сертификации.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 согласован командой в CONCEPT.md. Пример основан на открытом запросе № 3 кейса АЦР.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Прототип, созданный встроенным ImageGen. Интерфейс не реализован. Все данные демонстрационные.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Концептуальный сценарий точечной переработки. Сумма часов после предложенной замены остаётся 72. Макет создан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Базовый срок 2–8 недель: https://hub.gigaschool.ru/events/tochka-sborki-2026/cases/sber-edu-agent. 1–2 дня и ускорение минимум в 7 раз — целевая гипотеза команды, не результат испытаний. Сравнивается календарный цикл, не трудозатраты. Требуемая генерация полного комплекта 72 часа ≤20 минут.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Метрики пригодности и 90% — первоначальные цели пилота команды, не измеренные результаты. Пригодность означает содержательную оценку экспертом, а не отказ от экспертной проверки. Ограничения скорости взяты из https://hub.gigaschool.ru/events/tochka-sborki-2026/cases/sber-edu-agent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Продуктовая концепция для хакатона Точка сборки. Работающий сервис и измеренная эффективность пока отсутствуют.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30b8ce3b748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bc587252146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a9e07fdd24b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f8b93775ce44d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c182f93304f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40498d07645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164206-304F-4126-B1A8-36A95A76C3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F52E90-78E3-4DD0-9369-FC03B10DEA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DA21FC-3189-4A8F-9004-4747A616A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D4E823-D380-4EB0-9D79-8E72EF6763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063F39B-E122-484D-B6DB-496EB15522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BE5E89-3C25-4545-9B98-F71EBFE44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8FB8EB-9A96-4EA2-AAF1-8E68C60130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62EFD4-4213-4EFA-9D62-B14F3C2246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79D16EB-4EAE-42C0-B819-6CAFB61C23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74BC6C-7B6D-4212-A428-F4A5ECE9DA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a030cee958486e" /><Relationship Type="http://schemas.openxmlformats.org/officeDocument/2006/relationships/slideLayout" Target="/ppt/slideLayouts/slideLayout1.xml" Id="R248d4f5fe2104b1f" /><Relationship Type="http://schemas.openxmlformats.org/officeDocument/2006/relationships/slideLayout" Target="/ppt/slideLayouts/slideLayout2.xml" Id="R25353422ebb04cee" /><Relationship Type="http://schemas.openxmlformats.org/officeDocument/2006/relationships/slideLayout" Target="/ppt/slideLayouts/slideLayout3.xml" Id="R4ed256aabc1a454a" /><Relationship Type="http://schemas.openxmlformats.org/officeDocument/2006/relationships/slideLayout" Target="/ppt/slideLayouts/slideLayout4.xml" Id="Rcb1f4987d69c41be" /><Relationship Type="http://schemas.openxmlformats.org/officeDocument/2006/relationships/slideLayout" Target="/ppt/slideLayouts/slideLayout5.xml" Id="R7c85e333d61342b7" /><Relationship Type="http://schemas.openxmlformats.org/officeDocument/2006/relationships/slideLayout" Target="/ppt/slideLayouts/slideLayout6.xml" Id="R153bdefd129443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8d4f5fe2104b1f"/>
    <p:sldLayoutId xmlns:r="http://schemas.openxmlformats.org/officeDocument/2006/relationships" id="2147483650" r:id="R25353422ebb04cee"/>
    <p:sldLayoutId xmlns:r="http://schemas.openxmlformats.org/officeDocument/2006/relationships" id="2147483651" r:id="R4ed256aabc1a454a"/>
    <p:sldLayoutId xmlns:r="http://schemas.openxmlformats.org/officeDocument/2006/relationships" id="2147483652" r:id="Rcb1f4987d69c41be"/>
    <p:sldLayoutId xmlns:r="http://schemas.openxmlformats.org/officeDocument/2006/relationships" id="2147483653" r:id="R7c85e333d61342b7"/>
    <p:sldLayoutId xmlns:r="http://schemas.openxmlformats.org/officeDocument/2006/relationships" id="2147483654" r:id="R153bdefd129443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93e8f99eb445b6" /><Relationship Type="http://schemas.openxmlformats.org/officeDocument/2006/relationships/notesSlide" Target="/ppt/notesSlides/notesSlide1.xml" Id="R6e024bb55c0d49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8028f7f49e4ae5" /><Relationship Type="http://schemas.openxmlformats.org/officeDocument/2006/relationships/hyperlink" Target="https://hub.gigaschool.ru/events/tochka-sborki-2026/cases/sber-edu-agent" TargetMode="External" Id="R988f3173ca194dbb" /><Relationship Type="http://schemas.openxmlformats.org/officeDocument/2006/relationships/notesSlide" Target="/ppt/notesSlides/notesSlide2.xml" Id="Ra1900ba884d644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afe15b4cf14eed" /><Relationship Type="http://schemas.openxmlformats.org/officeDocument/2006/relationships/hyperlink" Target="https://www.consultant.ru/document/cons_doc_LAW_61801/" TargetMode="External" Id="R1a725cc5e7fe460f" /><Relationship Type="http://schemas.openxmlformats.org/officeDocument/2006/relationships/hyperlink" Target="https://publication.pravo.gov.ru/document/view/0001201212300007" TargetMode="External" Id="Rf0eec7e1d1254c61" /><Relationship Type="http://schemas.openxmlformats.org/officeDocument/2006/relationships/hyperlink" Target="https://publication.pravo.gov.ru/document/0001202504230011" TargetMode="External" Id="R335257ee17fc40ff" /><Relationship Type="http://schemas.openxmlformats.org/officeDocument/2006/relationships/hyperlink" Target="http://publication.pravo.gov.ru/Document/View/0001202209270013" TargetMode="External" Id="Rcdcaa76c8d3f4167" /><Relationship Type="http://schemas.openxmlformats.org/officeDocument/2006/relationships/notesSlide" Target="/ppt/notesSlides/notesSlide3.xml" Id="R883dae0a188f4a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8057e002074849" /><Relationship Type="http://schemas.openxmlformats.org/officeDocument/2006/relationships/notesSlide" Target="/ppt/notesSlides/notesSlide4.xml" Id="Re1969b786d654c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6eaef25bb9463f" /><Relationship Type="http://schemas.openxmlformats.org/officeDocument/2006/relationships/image" Target="/ppt/media/image.png" Id="R09a70d481fb24ce1" /><Relationship Type="http://schemas.openxmlformats.org/officeDocument/2006/relationships/notesSlide" Target="/ppt/notesSlides/notesSlide5.xml" Id="R5122569bec7143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d7feb664d24841" /><Relationship Type="http://schemas.openxmlformats.org/officeDocument/2006/relationships/image" Target="/ppt/media/image2.png" Id="Rd5976de183184134" /><Relationship Type="http://schemas.openxmlformats.org/officeDocument/2006/relationships/notesSlide" Target="/ppt/notesSlides/notesSlide6.xml" Id="R610a5e5d54cc42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d5c8f8cd044b6" /><Relationship Type="http://schemas.openxmlformats.org/officeDocument/2006/relationships/notesSlide" Target="/ppt/notesSlides/notesSlide7.xml" Id="Rb5ce9adf2af144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39b762793244d2" /><Relationship Type="http://schemas.openxmlformats.org/officeDocument/2006/relationships/notesSlide" Target="/ppt/notesSlides/notesSlide8.xml" Id="Rccb10ee0c6bf43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9ab42442cc49e0" /><Relationship Type="http://schemas.openxmlformats.org/officeDocument/2006/relationships/notesSlide" Target="/ppt/notesSlides/notesSlide9.xml" Id="Rdcdcf91b0f774b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D4822-BE99-4905-BB9C-E3A35DD0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КОМАНДА «ПХУКЕТСКАЯ»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5FF1C-A6EE-4D36-B2D4-0DBD111E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Матвей Мусиенко — капитан</a:t>
            </a:r>
          </a:p>
          <a:p xmlns:a="http://schemas.openxmlformats.org/drawingml/2006/main">
            <a:pPr algn="r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Захар Толошный — участник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87AFF-D232-4AC1-BA74-FFD6E8D3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4020800" cy="5334000"/>
          </a:xfrm>
          <a:prstGeom xmlns:a="http://schemas.openxmlformats.org/drawingml/2006/main" prst="roundRect">
            <a:avLst>
              <a:gd name="adj" fmla="val 3929"/>
            </a:avLst>
          </a:prstGeom>
          <a:solidFill xmlns:a="http://schemas.openxmlformats.org/drawingml/2006/main">
            <a:srgbClr val="103D2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5151D-C702-4692-9138-D3D369B6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13106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0">
                <a:solidFill>
                  <a:srgbClr val="D8F6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2175" b="0">
                <a:solidFill>
                  <a:srgbClr val="D8F68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F681"/>
                </a:solidFill>
                <a:latin typeface="Arial"/>
                <a:ea typeface="Arial"/>
                <a:cs typeface="Arial"/>
              </a:rPr>
              <a:t>Продуктовый хакатон «Точка сборки»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82627-B6C0-4D0C-A0B6-7409F083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14675"/>
            <a:ext cx="13106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Методист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49F35-E20A-4E34-82EC-9D775362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1162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30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ИИ-помощник для подготовки</a:t>
            </a:r>
          </a:p>
          <a:p xmlns:a="http://schemas.openxmlformats.org/drawingml/2006/main">
            <a:pPr algn="ctr">
              <a:lnSpc>
                <a:spcPct val="113000"/>
              </a:lnSpc>
              <a:buNone/>
              <a:defRPr sz="30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образовательных программ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D871E-9A30-40A3-880E-7FA02592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91250"/>
            <a:ext cx="1238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0">
                <a:solidFill>
                  <a:srgbClr val="D9E9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2025" b="0">
                <a:solidFill>
                  <a:srgbClr val="D9E9D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9E9DF"/>
                </a:solidFill>
                <a:latin typeface="Arial"/>
                <a:ea typeface="Arial"/>
                <a:cs typeface="Arial"/>
              </a:rPr>
              <a:t>От запроса методиста до согласованного комплекта курса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0AD44-AF44-459C-8245-EF1484F8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057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Кейс АЦР и GigaCowork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8BDF3-F299-458B-BE43-C52CCA09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505700"/>
            <a:ext cx="636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Продуктовая концепция / 15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143646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F0AFCE-3F17-465B-B015-72B4B7E4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ВОПРОС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F062D-24F1-4E4A-9A74-E033045B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3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Задача бизнеса и наш пользователь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5E2DE-8B3B-4AF1-B959-80F79CFD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Сократить ручную подготовку образовательной программы и повторные согласования.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2F864-53C2-43CD-91A1-01B4D5BD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7C8CF-79A0-41E0-B5F0-73703B21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191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02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D70D2-DD84-4CD4-B027-F604DEAB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476750" cy="323850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103D2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9BDAB-B417-41E5-AEFD-82226D17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2–8 недель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1C09C-E04D-4AE4-8D20-0F5A0C3E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381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занимает подготовка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одной программы сейчас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06C9B-E477-4A01-96BF-09DB86A9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9E9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D9E9D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E9DF"/>
                </a:solidFill>
                <a:latin typeface="Arial"/>
                <a:ea typeface="Arial"/>
                <a:cs typeface="Arial"/>
              </a:rPr>
              <a:t>По данным кейсодателя АЦР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16538-5A45-4F8A-B0C1-995FFB17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81250"/>
            <a:ext cx="9315450" cy="3238500"/>
          </a:xfrm>
          <a:prstGeom xmlns:a="http://schemas.openxmlformats.org/drawingml/2006/main" prst="roundRect">
            <a:avLst>
              <a:gd name="adj" fmla="val 64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D5DCD-0990-4C4D-B901-6DDA1C46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86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5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Основной пользователь — методист АЦР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CE396-8528-408B-BDA2-0CD6EFE3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76625"/>
            <a:ext cx="84772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Задаёт аудиторию и требования, собирает программу по шаблону и согласует результат. Не обязан быть экспертом в каждом ИТ-направлении.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30735-B66A-4231-9B48-6806A025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05375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Преподаватель проверяет содержание. Руководитель утверждает программу.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D7DC3-CA6C-4350-939A-696E32EB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44958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5AA3F-7C3A-4499-8B4C-9EC5AED4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143625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Часы расходятся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BD99B-FC17-4E1F-B150-6B67333B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8199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Ручные расчёты возвращают программу на доработку.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B1A03-38FB-446D-8BFF-5D45AD3A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905500"/>
            <a:ext cx="44958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478EF-7500-47F6-BE14-2F95BEE4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143625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Материалы противоречат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7D2D5-CD04-483D-A01C-788302F6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8199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Программа, тесты и слайды создаются в разных файлах.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42353-FF56-49A0-B8CA-9CB8DEDE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905500"/>
            <a:ext cx="4495800" cy="1809750"/>
          </a:xfrm>
          <a:prstGeom xmlns:a="http://schemas.openxmlformats.org/drawingml/2006/main" prst="roundRect">
            <a:avLst>
              <a:gd name="adj" fmla="val 1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EAAD8-E06D-44D5-AF10-D1A4918C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6143625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Компетенции не проверяются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CE58DC-B7CA-4B3A-AFB6-0C4069E5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68199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Нет явной связи между результатами обучения и заданиями.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63F45B-157C-4522-BB58-2D8407A3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200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988f3173ca194dbb"/>
              </a:rPr>
              <a:t>Источник: описание кейса АЦР</a:t>
            </a:r>
          </a:p>
        </p:txBody>
      </p:sp>
    </p:spTree>
    <p:extLst>
      <p:ext uri="{BB962C8B-B14F-4D97-AF65-F5344CB8AC3E}">
        <p14:creationId xmlns:p14="http://schemas.microsoft.com/office/powerpoint/2010/main" val="21011779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0CA98D-1757-4B8F-9C50-AB4286DE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ВОПРОС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C1F1F-8439-4474-9C01-FA6C8D57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3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Требования и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A24DD-07BC-4585-94A6-F3698A06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Сохраняем контроль методиста и учитываем требования кейса и законодательства РФ.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EA026-0755-4242-8AAD-746854D9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66D22-BF83-4D63-90AD-5E09C135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191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03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6E888-2665-4553-BB69-9849FF94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6896100" cy="1733550"/>
          </a:xfrm>
          <a:prstGeom xmlns:a="http://schemas.openxmlformats.org/drawingml/2006/main" prst="roundRect">
            <a:avLst>
              <a:gd name="adj" fmla="val 120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5D502-C351-4C4F-90A7-DC544891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Программы и входные данные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FBE71-AA14-4E40-ADAA-22392659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638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Два шаблона АЦР: повышение квалификации и общеразвивающая программа. ИТ-направления, 16–500 часов. Референсы: DOCX, PDF и текст.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321599-240D-4297-A1A3-F62F2E71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05050"/>
            <a:ext cx="6896100" cy="1733550"/>
          </a:xfrm>
          <a:prstGeom xmlns:a="http://schemas.openxmlformats.org/drawingml/2006/main" prst="roundRect">
            <a:avLst>
              <a:gd name="adj" fmla="val 120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E8EE8D-2EC4-42DC-9E8D-049D929D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1460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Полный комплект материалов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D49A4-F47B-4D66-8297-3444A3EA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19425"/>
            <a:ext cx="638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Компетенции, учебные планы, тесты с ключами, задания с критериями, планы лекций и слайды. Выгрузка DOCX, PPTX и JSON.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67251-0A29-4482-98FF-536CD4EE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6896100" cy="1733550"/>
          </a:xfrm>
          <a:prstGeom xmlns:a="http://schemas.openxmlformats.org/drawingml/2006/main" prst="roundRect">
            <a:avLst>
              <a:gd name="adj" fmla="val 120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67EAA8-A701-4105-97E9-1A57899F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7225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Инфраструктура и контроль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F87D0-8EE9-4749-B490-9F74FE78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638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Cloud.ru Evolution Foundation Models, единый API. Структуру согласует человек. ИИ показывает пакет правок до применения.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F1C8CC-B3BE-472A-9B80-6A072E8A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57675"/>
            <a:ext cx="6896100" cy="1733550"/>
          </a:xfrm>
          <a:prstGeom xmlns:a="http://schemas.openxmlformats.org/drawingml/2006/main" prst="roundRect">
            <a:avLst>
              <a:gd name="adj" fmla="val 120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1B0C3-F03C-405B-A485-2A026912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67225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Качество и достоверность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15E59-17CB-4423-BE2F-7363E4C5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72050"/>
            <a:ext cx="638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Автопроверка часов, разделов и покрытия компетенций. Включаем только подтверждённые источники. Реквизиты утверждения не заполняем.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7F6F13-5C05-4E7E-BF75-04115AA8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4020800" cy="1495425"/>
          </a:xfrm>
          <a:prstGeom xmlns:a="http://schemas.openxmlformats.org/drawingml/2006/main" prst="roundRect">
            <a:avLst>
              <a:gd name="adj" fmla="val 14013"/>
            </a:avLst>
          </a:prstGeom>
          <a:solidFill xmlns:a="http://schemas.openxmlformats.org/drawingml/2006/main">
            <a:srgbClr val="E8F3E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5C700-6A85-4CC6-849A-7425D521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543675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Нормативная основа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49B7B3-22ED-439F-95B2-EA020D95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962775"/>
            <a:ext cx="1343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273-ФЗ «Об образовании», приказ № 266 для ДПО и № 629 для общеразвивающих программ.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152-ФЗ «О персональных данных»: минимизация данных, законные основания обработки, ограничение доступа и защита. В учебных примерах используем обезличенные данные.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0261BD-3850-4A43-BE38-B41DD8DF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152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1a725cc5e7fe460f"/>
              </a:rPr>
              <a:t>152-ФЗ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8E1D4-EB9C-4746-A10A-D972F821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9152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f0eec7e1d1254c61"/>
              </a:rPr>
              <a:t>273-ФЗ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E63E87-214B-4D1B-823B-E6324EBE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79152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335257ee17fc40ff"/>
              </a:rPr>
              <a:t>Приказ № 266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34C93E-2DD5-4885-B691-3E7BC6B0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79152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>
                <a:hlinkClick xmlns:r="http://schemas.openxmlformats.org/officeDocument/2006/relationships" r:id="Rcdcaa76c8d3f4167"/>
              </a:rPr>
              <a:t>Приказ № 629</a:t>
            </a:r>
          </a:p>
        </p:txBody>
      </p:sp>
    </p:spTree>
    <p:extLst>
      <p:ext uri="{BB962C8B-B14F-4D97-AF65-F5344CB8AC3E}">
        <p14:creationId xmlns:p14="http://schemas.microsoft.com/office/powerpoint/2010/main" val="4760853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C8ABA6-51FA-4740-8C28-9D97CC4D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ВОПРОС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51B88-EA32-491E-8850-282BC77E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3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Основной сценарий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68BFA-224F-4D8C-8BAA-BC726D60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согласует структуру целиком, затем получает материалы сразу для всего курса.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05D78-2DE7-47FC-9044-1E67A06B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16D8E-BD67-4B97-9DFF-E1518BD0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191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04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8EE49-36CF-45C6-9A3A-444A3F03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638425" cy="3295650"/>
          </a:xfrm>
          <a:prstGeom xmlns:a="http://schemas.openxmlformats.org/drawingml/2006/main" prst="roundRect">
            <a:avLst>
              <a:gd name="adj" fmla="val 79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87463-47B8-44E3-AE2C-1ACD3479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15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C3B1F-B1F7-4641-A43B-47D9A7AB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Материалы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0BF1B-B7DF-4469-B312-B0B14A03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19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Загружаем файлы. ИИ извлекает параметры и их источники.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C8C5E-7966-487A-B23B-E36A4866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495550"/>
            <a:ext cx="2638425" cy="3295650"/>
          </a:xfrm>
          <a:prstGeom xmlns:a="http://schemas.openxmlformats.org/drawingml/2006/main" prst="roundRect">
            <a:avLst>
              <a:gd name="adj" fmla="val 79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ED39A-31B7-4C14-A65B-D13B9A8D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714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15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41944-6B3A-4508-A319-C92FF488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476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Уточнения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26BA5-9ED5-4729-9D09-8E48A3C7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095750"/>
            <a:ext cx="219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Отвечаем на недостающие вопросы и подтверждаем данные.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63ECA-12D9-4B5F-BC01-7B030A4D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2638425" cy="3295650"/>
          </a:xfrm>
          <a:prstGeom xmlns:a="http://schemas.openxmlformats.org/drawingml/2006/main" prst="roundRect">
            <a:avLst>
              <a:gd name="adj" fmla="val 79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011C7-B4D3-461C-9D9B-7E20DAB6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14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15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A2E34-AE9B-4CEA-B9DF-C2B20845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76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Структура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9EB02-59C2-47CF-846D-52DF1EE5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95750"/>
            <a:ext cx="219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Видим цель, компетенции и часы. Согласуем каркас целиком.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2833B8-BD39-49A6-923A-A05D0693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95550"/>
            <a:ext cx="2638425" cy="3295650"/>
          </a:xfrm>
          <a:prstGeom xmlns:a="http://schemas.openxmlformats.org/drawingml/2006/main" prst="roundRect">
            <a:avLst>
              <a:gd name="adj" fmla="val 79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A1307-66B5-473C-99F1-C942D691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14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15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0993A-0B56-47BB-BA18-B1ADD14A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76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Комплект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5D2283-7AC4-4276-B1A8-07A7CE01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219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Получаем материалы всех модулей и результат автопроверки.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D3250-C92B-40EB-B02B-DBE1B94C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495550"/>
            <a:ext cx="2638425" cy="3295650"/>
          </a:xfrm>
          <a:prstGeom xmlns:a="http://schemas.openxmlformats.org/drawingml/2006/main" prst="roundRect">
            <a:avLst>
              <a:gd name="adj" fmla="val 79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20A8E-61A3-4D18-9836-C565ACDF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7146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15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4CB5EE-800E-41C1-A995-0D71D835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476625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Правки и экспорт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744DEB-3980-4FB0-97CB-D41BB7D2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095750"/>
            <a:ext cx="219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Подтверждаем пакет правок. Проверяем и скачиваем комплект.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415241-3E73-4E4F-9098-7A6DF89A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4020800" cy="1619250"/>
          </a:xfrm>
          <a:prstGeom xmlns:a="http://schemas.openxmlformats.org/drawingml/2006/main" prst="roundRect">
            <a:avLst>
              <a:gd name="adj" fmla="val 12941"/>
            </a:avLst>
          </a:prstGeom>
          <a:solidFill xmlns:a="http://schemas.openxmlformats.org/drawingml/2006/main">
            <a:srgbClr val="103D2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EACA68-FC13-4991-A69B-D50CF47E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91275"/>
            <a:ext cx="1323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D8F6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D8F68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8F681"/>
                </a:solidFill>
                <a:latin typeface="Arial"/>
                <a:ea typeface="Arial"/>
                <a:cs typeface="Arial"/>
              </a:rPr>
              <a:t>Пример запроса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7E30B0-F076-4C14-8614-A6CE5E87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867525"/>
            <a:ext cx="1314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«Анализ данных на Python» для сотрудников банка. 72 часа, четыре недели,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очно-заочно. Входной уровень — Excel. Итоговая аттестация — защита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3614704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9C669-F4A8-4E28-9871-3FB5EBB2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ВОПРОС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84DA4-739C-42E5-A25B-8BBC3B49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3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Рабочее пространство методиста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DCEA8-C929-4C79-B241-76E06D76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Заполненный прототип: курс «Анализ данных на Python», 72 часа.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22FED-C409-4C00-A061-38879465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599E8-FF78-4711-B7AC-F81A9621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191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05 / 09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19838-1F21-4BA6-9DBE-D833528949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70d481fb24ce1"/>
          <a:stretch xmlns:a="http://schemas.openxmlformats.org/drawingml/2006/main"/>
        </p:blipFill>
        <p:spPr>
          <a:xfrm xmlns:a="http://schemas.openxmlformats.org/drawingml/2006/main">
            <a:off x="1098976" y="2076450"/>
            <a:ext cx="9517799" cy="5953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20CD6-E6B6-4B3E-A160-E81BCC84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38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½ экрана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65EF5-4AC7-4041-A3F8-732C994A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6289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Материалы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87230-8094-4DE1-B3C5-832BF66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095625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Просмотр файла и вкладки материалов. Редактирование вручную.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ADC58-5E2D-46C9-80D6-5833802D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152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¼ экрана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C51EF-4454-4176-95AA-95C8371A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5434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Параметры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25729-8D1B-4EA1-B4C0-054C599C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0101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Часы, аудитория, формат и аттестация всегда перед глазами.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2F3C4-3FE7-4E9D-A4FF-E8457FFE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0674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¼ экрана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E168F-E665-4299-880D-00B67FCE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Диалог с 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B118C3-26F9-4B4D-B078-0A6A3827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924675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Вопросы и запросы на правки. Любая область разворачивается на весь экран.</a:t>
            </a:r>
          </a:p>
        </p:txBody>
      </p:sp>
    </p:spTree>
    <p:extLst>
      <p:ext uri="{BB962C8B-B14F-4D97-AF65-F5344CB8AC3E}">
        <p14:creationId xmlns:p14="http://schemas.microsoft.com/office/powerpoint/2010/main" val="15121189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D309F-84BC-4D84-9928-F26E2D02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ВОПРОС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0ADC5-E723-448F-9CE6-1E4D698F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3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Материалы доступны в предпросмотре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9C074-032C-4F23-8D24-87D5457B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Пример слайда того же курса. Изменения применяются только после подтверждения.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87149-9625-4B2B-AF12-21E94EBA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F79FE8-1662-4921-98C7-78DBBE39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191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06 / 09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A42BD-B5FF-4706-B3D5-08C8749436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76de183184134"/>
          <a:stretch xmlns:a="http://schemas.openxmlformats.org/drawingml/2006/main"/>
        </p:blipFill>
        <p:spPr>
          <a:xfrm xmlns:a="http://schemas.openxmlformats.org/drawingml/2006/main">
            <a:off x="1060904" y="2047875"/>
            <a:ext cx="9593941" cy="6000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9BA37-1DCC-421F-B971-71CDCF86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286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Запрос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169FD-696C-4488-A521-C7B9ACFB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809875"/>
            <a:ext cx="2952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Добавить практику по SQL и сохранить общий объём 72 часа.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998C1-C81D-4F0F-84F2-8C6A963B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1338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Предложение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2285A-D1B0-4189-B630-4991E5E8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657725"/>
            <a:ext cx="2952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План, тесты, задания и слайды меняются одним пакетом. Общий объём сохраняется.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1A2B0-8C40-48EF-8387-4A69C9F4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981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70990-B71B-432F-882B-D795A9C0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05575"/>
            <a:ext cx="2952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Методист принимает пакет целиком. Затем запускается автоматическая проверка.</a:t>
            </a:r>
          </a:p>
        </p:txBody>
      </p:sp>
    </p:spTree>
    <p:extLst>
      <p:ext uri="{BB962C8B-B14F-4D97-AF65-F5344CB8AC3E}">
        <p14:creationId xmlns:p14="http://schemas.microsoft.com/office/powerpoint/2010/main" val="13574974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16A5C-3C59-4B3B-A6F3-FC258FAB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ВОПРОС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5B56C-8268-4E94-8284-9D6B9F67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3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Экономическая ценность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D71CE-133F-4CC3-ADD0-548A26F2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Цель — ускорить подготовку курса и сократить объём ручной сборки и исправлений.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BE698-8D18-4954-AF12-3D2FBC8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43B83-9CA1-45BA-8E2D-6221D049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191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07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5297D-16CD-4E79-924C-788EC798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476750" cy="3619500"/>
          </a:xfrm>
          <a:prstGeom xmlns:a="http://schemas.openxmlformats.org/drawingml/2006/main" prst="roundRect">
            <a:avLst>
              <a:gd name="adj" fmla="val 5789"/>
            </a:avLst>
          </a:prstGeom>
          <a:solidFill xmlns:a="http://schemas.openxmlformats.org/drawingml/2006/main">
            <a:srgbClr val="103D2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A1C08-1A12-4523-86AE-E7A7A9EB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3905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5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 7 раз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0752C-18C6-4F8D-82BB-26DD978C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быстрее по сроку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4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подготовки курса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9E987-5B00-41CC-8280-05C703F5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D8F6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D8F68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F681"/>
                </a:solidFill>
                <a:latin typeface="Arial"/>
                <a:ea typeface="Arial"/>
                <a:cs typeface="Arial"/>
              </a:rPr>
              <a:t>Целевая гипотеза для пилота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1AB0C-565F-4EBD-B113-399CD393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62200"/>
            <a:ext cx="9315450" cy="1657350"/>
          </a:xfrm>
          <a:prstGeom xmlns:a="http://schemas.openxmlformats.org/drawingml/2006/main" prst="roundRect">
            <a:avLst>
              <a:gd name="adj" fmla="val 12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6497B-FDDB-48EB-A4D6-0D6C9FC9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00325"/>
            <a:ext cx="857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7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Сейчас: 2–8 недель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14A8D-002B-49DB-8B70-E84D796A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847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Ручная сборка файлов, сверка часов и повторные согласования. Срок указан в описании кейса.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6827AA-1AD0-4314-83E1-969662DF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48150"/>
            <a:ext cx="9315450" cy="1733550"/>
          </a:xfrm>
          <a:prstGeom xmlns:a="http://schemas.openxmlformats.org/drawingml/2006/main" prst="roundRect">
            <a:avLst>
              <a:gd name="adj" fmla="val 12088"/>
            </a:avLst>
          </a:prstGeom>
          <a:solidFill xmlns:a="http://schemas.openxmlformats.org/drawingml/2006/main">
            <a:srgbClr val="E8F3E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6A301-D5F2-4C10-9238-6B1541E3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76750"/>
            <a:ext cx="857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77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Цель: 1–2 дня на готовый курс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94470-CE69-4B6F-BC39-332F4662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95875"/>
            <a:ext cx="847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До 20 минут на генерацию комплекта на 72 часа. Затем экспертная проверка и небольшие адресные правки.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59A291-5F45-460E-AACD-C4923BEA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4020800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7F08B-5018-488E-BCEC-A74659CB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86525"/>
            <a:ext cx="1314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Проверяем экономику на реальной работе методиста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4FD4F-024B-4518-A07E-A8EFD7FE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019925"/>
            <a:ext cx="13049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Консервативный расчёт срока: 14 календарных дней / 2 дня = 7.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Экономию затрат считаем отдельно: сэкономленные часы × ставка специалиста − стоимость генерации.</a:t>
            </a:r>
          </a:p>
        </p:txBody>
      </p:sp>
    </p:spTree>
    <p:extLst>
      <p:ext uri="{BB962C8B-B14F-4D97-AF65-F5344CB8AC3E}">
        <p14:creationId xmlns:p14="http://schemas.microsoft.com/office/powerpoint/2010/main" val="914645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4CF0E9-B232-4197-8C2C-BA1C538C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1">
                <a:solidFill>
                  <a:srgbClr val="168B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8B3F"/>
                </a:solidFill>
                <a:latin typeface="Arial"/>
                <a:ea typeface="Arial"/>
                <a:cs typeface="Arial"/>
              </a:rPr>
              <a:t>ВОПРОС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BFF19-94B6-4497-B7B5-B74FE042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402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375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Успех — пригодный первый результат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4A655-A314-4E91-894A-91B32BBA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4020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Первый комплект должен требовать небольших правок, а не переписывания каждой темы или слайда.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25846-E817-45CE-B1B3-8751C8B7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Методист / Пхукетская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10813-DB45-4C29-8FFF-661BE3F2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1915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275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08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E0F5B-564B-4037-A78F-7FA74DE9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4020800" cy="9144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DDC39-011A-4295-82AE-54BF7D2B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328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Экономическая эффективность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40968-D58F-44C1-9B6B-A0F20C09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86025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Цель: курс за 1–2 дня, ускорение срока от 7 раз.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505A4-C481-4D43-8A9D-8B74D09A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955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Измеряем весь цикл, часы специалистов и стоимость ИИ.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838C8-092B-4EE2-B797-DD6DD1E9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4020800" cy="9144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8F3E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67938-556B-4A97-BD1F-A50ACD9A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328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Пригодность первой итерации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E04DA-A382-4F4B-9688-CFF614AF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Ориентир пилота: ≥90% материалов без существенной переработки.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DA14D-A5EC-4E09-955D-0FC7CB1B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33775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Эксперт отмечает пригодные блоки, задания и слайды.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91A37-B97C-4110-9BA5-40A6D40B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4020800" cy="9144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7281C2-F1B6-4628-BD81-DE8A160E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328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Объём ручных исправлений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31A074-C302-450B-8E2E-D8F97B5E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62475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Небольшие адресные правки без полной пересборки курса.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B7D8A4-AFE6-4E27-B3F5-4FA9A2B4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720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Считаем долю исправленных материалов и время правок.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30EB0-890F-470D-9B68-FF0498E7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4020800" cy="9144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8F3E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00186D-49E0-402A-A622-CDD78E90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29275"/>
            <a:ext cx="328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Согласованность и достоверность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BE798-A097-40BC-977F-60CED644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00700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0 ошибок в часах. Все результаты покрыты. Источники подтверждены.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0D88FD-6295-4341-BBE3-D0B47EE3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610225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Проверяем арифметику, связи и чек-листы кейса.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C8A372-9349-4EB4-BFBC-390C21D1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4020800" cy="9144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6D8AEF-36D7-4747-8AF2-9FD4AA01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0"/>
            <a:ext cx="3286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1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41C"/>
                </a:solidFill>
                <a:latin typeface="Arial"/>
                <a:ea typeface="Arial"/>
                <a:cs typeface="Arial"/>
              </a:rPr>
              <a:t>Скорость генерации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109250-6D1C-4D51-AC6C-C2A8CB48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638925"/>
            <a:ext cx="571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4241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41C"/>
                </a:solidFill>
                <a:latin typeface="Arial"/>
                <a:ea typeface="Arial"/>
                <a:cs typeface="Arial"/>
              </a:rPr>
              <a:t>Каркас ≤3 минут. Комплект на 72 часа ≤20 минут.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B80895-1D64-4A9B-A262-625527AC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6484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Замеряем новый запрос от запуска до готового результата.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696809-8154-403E-A310-AA4D00FF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705725"/>
            <a:ext cx="1381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5F6D6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D64"/>
                </a:solidFill>
                <a:latin typeface="Arial"/>
                <a:ea typeface="Arial"/>
                <a:cs typeface="Arial"/>
              </a:rPr>
              <a:t>Все показатели — цели. Проверка на пяти открытых запросах и новых примерах; результат принимает эксперт.</a:t>
            </a:r>
          </a:p>
        </p:txBody>
      </p:sp>
    </p:spTree>
    <p:extLst>
      <p:ext uri="{BB962C8B-B14F-4D97-AF65-F5344CB8AC3E}">
        <p14:creationId xmlns:p14="http://schemas.microsoft.com/office/powerpoint/2010/main" val="10821548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3D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5614B-7C4E-4B28-928E-40195060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333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D8F6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D8F68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8F681"/>
                </a:solidFill>
                <a:latin typeface="Arial"/>
                <a:ea typeface="Arial"/>
                <a:cs typeface="Arial"/>
              </a:rPr>
              <a:t>МЕТОДИСТ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57802-B78D-4E7A-8461-59E1C26E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371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Полный комплект курса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 контролем методиста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E2A83-C94E-4F47-8B84-3AB10422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48175"/>
            <a:ext cx="1304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D9E9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D9E9D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9E9DF"/>
                </a:solidFill>
                <a:latin typeface="Arial"/>
                <a:ea typeface="Arial"/>
                <a:cs typeface="Arial"/>
              </a:rPr>
              <a:t>Согласованная структура. Связанные материалы.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400" b="0">
                <a:solidFill>
                  <a:srgbClr val="D9E9D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9E9DF"/>
                </a:solidFill>
                <a:latin typeface="Arial"/>
                <a:ea typeface="Arial"/>
                <a:cs typeface="Arial"/>
              </a:rPr>
              <a:t>Автоматическая проверка и подтверждение изменений человеком.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BEFC1-9B9C-485A-BAA7-E57BA654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43650"/>
            <a:ext cx="1304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Спасибо за внимание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E639A-D687-494D-BBC1-E479F026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6282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8F68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D8F6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F681"/>
                </a:solidFill>
                <a:latin typeface="Arial"/>
                <a:ea typeface="Arial"/>
                <a:cs typeface="Arial"/>
              </a:rPr>
              <a:t>Команда «Пхукетская»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D8F68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F681"/>
                </a:solidFill>
                <a:latin typeface="Arial"/>
                <a:ea typeface="Arial"/>
                <a:cs typeface="Arial"/>
              </a:rPr>
              <a:t>Матвей Мусиенко и Захар Толошный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3FBEA-FAD9-470A-917D-DFFAAA66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667625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D9E9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650" b="0">
                <a:solidFill>
                  <a:srgbClr val="D9E9D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E9DF"/>
                </a:solidFill>
                <a:latin typeface="Arial"/>
                <a:ea typeface="Arial"/>
                <a:cs typeface="Arial"/>
              </a:rPr>
              <a:t>Концепция / 2026</a:t>
            </a:r>
          </a:p>
        </p:txBody>
      </p:sp>
    </p:spTree>
    <p:extLst>
      <p:ext uri="{BB962C8B-B14F-4D97-AF65-F5344CB8AC3E}">
        <p14:creationId xmlns:p14="http://schemas.microsoft.com/office/powerpoint/2010/main" val="770447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2026-10-15T13:30:16.9360000Z</dcterms:created>
  <dcterms:modified xsi:type="dcterms:W3CDTF">2026-10-15T13:30:16.9360000Z</dcterms:modified>
</coreProperties>
</file>