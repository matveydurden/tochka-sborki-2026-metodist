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d7d599ec534789" /><Relationship Type="http://schemas.openxmlformats.org/officeDocument/2006/relationships/extended-properties" Target="/docProps/app.xml" Id="Rc4840fca547f4af3" /><Relationship Type="http://schemas.openxmlformats.org/officeDocument/2006/relationships/officeDocument" Target="/ppt/presentation.xml" Id="R440baa8f1e1643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0f54cac3494b6a"/>
  </p:sldMasterIdLst>
  <p:notesMasterIdLst>
    <p:notesMasterId xmlns:r="http://schemas.openxmlformats.org/officeDocument/2006/relationships" r:id="R3c50dd2645474fe0"/>
  </p:notesMasterIdLst>
  <p:sldIdLst>
    <p:sldId xmlns:r="http://schemas.openxmlformats.org/officeDocument/2006/relationships" id="256" r:id="R02df29cb5d8f4d9e"/>
    <p:sldId xmlns:r="http://schemas.openxmlformats.org/officeDocument/2006/relationships" id="257" r:id="Refb4af2d3bde48d1"/>
    <p:sldId xmlns:r="http://schemas.openxmlformats.org/officeDocument/2006/relationships" id="258" r:id="R5cf72d19a16942a5"/>
    <p:sldId xmlns:r="http://schemas.openxmlformats.org/officeDocument/2006/relationships" id="259" r:id="R4866746ad6954851"/>
    <p:sldId xmlns:r="http://schemas.openxmlformats.org/officeDocument/2006/relationships" id="260" r:id="R6fb9e83cb88f4a1f"/>
    <p:sldId xmlns:r="http://schemas.openxmlformats.org/officeDocument/2006/relationships" id="261" r:id="R1d177ff85e5e429a"/>
    <p:sldId xmlns:r="http://schemas.openxmlformats.org/officeDocument/2006/relationships" id="262" r:id="Rf49a44fce9464cb6"/>
    <p:sldId xmlns:r="http://schemas.openxmlformats.org/officeDocument/2006/relationships" id="263" r:id="R442b39acff944fd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c4602285874674" /><Relationship Type="http://schemas.openxmlformats.org/officeDocument/2006/relationships/slideMaster" Target="/ppt/slideMasters/slideMaster1.xml" Id="R8b0f54cac3494b6a" /><Relationship Type="http://schemas.openxmlformats.org/officeDocument/2006/relationships/notesMaster" Target="/ppt/notesMasters/notesMaster1.xml" Id="R3c50dd2645474fe0" /><Relationship Type="http://schemas.openxmlformats.org/officeDocument/2006/relationships/presProps" Target="/ppt/presProps.xml" Id="R2face35799574d29" /><Relationship Type="http://schemas.openxmlformats.org/officeDocument/2006/relationships/tableStyles" Target="/ppt/tableStyles.xml" Id="Re9fc23c5bdb54fd0" /><Relationship Type="http://schemas.openxmlformats.org/officeDocument/2006/relationships/slide" Target="/ppt/slides/slide1.xml" Id="R02df29cb5d8f4d9e" /><Relationship Type="http://schemas.openxmlformats.org/officeDocument/2006/relationships/slide" Target="/ppt/slides/slide2.xml" Id="Refb4af2d3bde48d1" /><Relationship Type="http://schemas.openxmlformats.org/officeDocument/2006/relationships/slide" Target="/ppt/slides/slide3.xml" Id="R5cf72d19a16942a5" /><Relationship Type="http://schemas.openxmlformats.org/officeDocument/2006/relationships/slide" Target="/ppt/slides/slide4.xml" Id="R4866746ad6954851" /><Relationship Type="http://schemas.openxmlformats.org/officeDocument/2006/relationships/slide" Target="/ppt/slides/slide5.xml" Id="R6fb9e83cb88f4a1f" /><Relationship Type="http://schemas.openxmlformats.org/officeDocument/2006/relationships/slide" Target="/ppt/slides/slide6.xml" Id="R1d177ff85e5e429a" /><Relationship Type="http://schemas.openxmlformats.org/officeDocument/2006/relationships/slide" Target="/ppt/slides/slide7.xml" Id="Rf49a44fce9464cb6" /><Relationship Type="http://schemas.openxmlformats.org/officeDocument/2006/relationships/slide" Target="/ppt/slides/slide8.xml" Id="R442b39acff944f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dc0bc605fb4f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efbd84a4d74a0a" /><Relationship Type="http://schemas.openxmlformats.org/officeDocument/2006/relationships/notesMaster" Target="/ppt/notesMasters/notesMaster1.xml" Id="Rfc72cfe0e65247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99ba99c4204f27" /><Relationship Type="http://schemas.openxmlformats.org/officeDocument/2006/relationships/notesMaster" Target="/ppt/notesMasters/notesMaster1.xml" Id="R8d082220656b4e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68acd9273e4d2c" /><Relationship Type="http://schemas.openxmlformats.org/officeDocument/2006/relationships/notesMaster" Target="/ppt/notesMasters/notesMaster1.xml" Id="Rc3885b70a2894b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7742df73564c60" /><Relationship Type="http://schemas.openxmlformats.org/officeDocument/2006/relationships/notesMaster" Target="/ppt/notesMasters/notesMaster1.xml" Id="R002f038cda2249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b67b81ba9b4777" /><Relationship Type="http://schemas.openxmlformats.org/officeDocument/2006/relationships/notesMaster" Target="/ppt/notesMasters/notesMaster1.xml" Id="R81babac9440640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998aa35bd843f9" /><Relationship Type="http://schemas.openxmlformats.org/officeDocument/2006/relationships/notesMaster" Target="/ppt/notesMasters/notesMaster1.xml" Id="R31fa1c52163a42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844172ed98470f" /><Relationship Type="http://schemas.openxmlformats.org/officeDocument/2006/relationships/notesMaster" Target="/ppt/notesMasters/notesMaster1.xml" Id="Rb9eff198b29848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368bed63cf443c" /><Relationship Type="http://schemas.openxmlformats.org/officeDocument/2006/relationships/notesMaster" Target="/ppt/notesMasters/notesMaster1.xml" Id="R161d1e43348249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Команда Пхукетская. Концепция, работающий сервис ещё не реализован. https://hub.gigaschool.ru/events/tochka-sborki-2026/cases/sber-edu-agent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Основной пользователь — методист АЦР. Он знает требования к образовательной программе, но не обязан глубоко разбираться в каждом ИТ-направлении. Материалы готовят разные специалисты, поэтому часы расходятся, темы повторяются, а компетенции не всегда проверяются. Исходный срок 2–8 недель приведён кейсодателем: https://hub.gigaschool.ru/events/tochka-sborki-2026/cases/sber-edu-agent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Поддерживаем повышение квалификации, включая стажировки, и общеразвивающие программы. Методист утверждает цель, компетенции и часы до генерации содержания. Карта компетенций связана с темами, вопросами и заданиями. Тесты имеют ключи, задания — критерии. Слайды готовим для лекций курса. Модели и эмбеддинги из Cloud.ru Evolution Foundation Models, проверка через единый API. Реквизиты приказов, ФИО и подписи не заполняем. Учитываем законные основания обработки данных по 152-ФЗ; проектные требования не означают пройденную сертификацию. {"case":"https://hub.gigaschool.ru/events/tochka-sborki-2026/cases/sber-edu-agent","pd":"https://www.consultant.ru/document/cons_doc_LAW_61801/","edu":"https://publication.pravo.gov.ru/document/view/0001201212300007","dpo":"https://publication.pravo.gov.ru/document/0001202504230011","general":"http://publication.pravo.gov.ru/Document/View/0001202209270013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Первый экран — массовая загрузка материалов. Извлечённые ответы подтверждаются, опросник спрашивает только недостающее. Каркас виден целиком. После согласования готовится комплект для всего курса. Методист редактирует материалы вручную или в диалоге. ИИ показывает основную правку и зависимые изменения одним пакетом до применения. После генерации и каждой сохранённой или принятой правки проверка запускается автоматически.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Макет ImageGen. Слева половина экрана с предпросмотром документа, вкладками материалов, ручным редактированием и режимом структурированного редактора. Справа сверху параметры программы, снизу диалог с ИИ. Каждая область разворачивается на весь экран. Это концепция интерфейса, а не работающий сервис.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Срок 2–8 недель из кейса АЦР. Цель команды — полный цикл за 1–2 дня. Минимальное ускорение 7 раз рассчитано по календарному сроку, не по затратам. Реальных замеров пока нет. Экономика: сэкономленные часы специалистов × ставка − стоимость генерации. Для методиста это меньше ручной сборки и сверки; для АЦР — более быстрый запуск программ. https://hub.gigaschool.ru/events/tochka-sborki-2026/cases/sber-edu-agent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Пригодность означает небольшие адресные правки после проверки экспертом, а не переписывание каждой темы и каждого слайда. Ориентир &gt;=90% материалов без существенной переработки проверяет эксперт. Часы, связи результатов обучения и оценочных средств и полнота шаблонов проверяются по открытым чек-листам и новым запросам. Каждому результату обучения соответствует тема и не менее двух оценочных средств. Считаем трудозатраты, долю исправленных материалов и токены, включая повторную генерацию. Ограничения скорости взяты из кейса.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Концепция. Цель — полный комплект с минимальными правками и контролем методиста.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b18a67c29a446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464d4caaf4498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11107de89c47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1156050a8c421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883ef47907422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33a9fa233e45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53D28F-9258-4A6D-83FF-FC97923B5E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F50D77E-5B3B-4748-B042-D839DDA796A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0D3FECA-EA55-4617-9C66-A8DE79E80F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43900E-FD18-458A-AED9-7BAAF83F38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F767823-DDB0-47D3-B974-176C29DB63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8ADE55-B14E-4EB5-B970-05FD74C234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78F098-C028-488F-B668-E6C802A4AC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5897BEE-665E-4458-AD1E-E5373DB514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5F0A11-52EC-4F54-A2B1-9BE1AF303F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39746D-1E9B-4227-A7C3-B92FC4B94B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85dafe0ae44dd6" /><Relationship Type="http://schemas.openxmlformats.org/officeDocument/2006/relationships/slideLayout" Target="/ppt/slideLayouts/slideLayout1.xml" Id="R107aa5b106bf45ba" /><Relationship Type="http://schemas.openxmlformats.org/officeDocument/2006/relationships/slideLayout" Target="/ppt/slideLayouts/slideLayout2.xml" Id="R5cef050b936a4f45" /><Relationship Type="http://schemas.openxmlformats.org/officeDocument/2006/relationships/slideLayout" Target="/ppt/slideLayouts/slideLayout3.xml" Id="R060374c2f27a46df" /><Relationship Type="http://schemas.openxmlformats.org/officeDocument/2006/relationships/slideLayout" Target="/ppt/slideLayouts/slideLayout4.xml" Id="R9e73eae029874818" /><Relationship Type="http://schemas.openxmlformats.org/officeDocument/2006/relationships/slideLayout" Target="/ppt/slideLayouts/slideLayout5.xml" Id="R0b22727deb2d4f75" /><Relationship Type="http://schemas.openxmlformats.org/officeDocument/2006/relationships/slideLayout" Target="/ppt/slideLayouts/slideLayout6.xml" Id="R2b3894335da644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7aa5b106bf45ba"/>
    <p:sldLayoutId xmlns:r="http://schemas.openxmlformats.org/officeDocument/2006/relationships" id="2147483650" r:id="R5cef050b936a4f45"/>
    <p:sldLayoutId xmlns:r="http://schemas.openxmlformats.org/officeDocument/2006/relationships" id="2147483651" r:id="R060374c2f27a46df"/>
    <p:sldLayoutId xmlns:r="http://schemas.openxmlformats.org/officeDocument/2006/relationships" id="2147483652" r:id="R9e73eae029874818"/>
    <p:sldLayoutId xmlns:r="http://schemas.openxmlformats.org/officeDocument/2006/relationships" id="2147483653" r:id="R0b22727deb2d4f75"/>
    <p:sldLayoutId xmlns:r="http://schemas.openxmlformats.org/officeDocument/2006/relationships" id="2147483654" r:id="R2b3894335da644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ceefbc1ab94d93" /><Relationship Type="http://schemas.openxmlformats.org/officeDocument/2006/relationships/notesSlide" Target="/ppt/notesSlides/notesSlide1.xml" Id="R99f855b79d5148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585b6bd5244fae" /><Relationship Type="http://schemas.openxmlformats.org/officeDocument/2006/relationships/hyperlink" Target="https://hub.gigaschool.ru/events/tochka-sborki-2026/cases/sber-edu-agent" TargetMode="External" Id="Rd5b4571b3b9b4555" /><Relationship Type="http://schemas.openxmlformats.org/officeDocument/2006/relationships/notesSlide" Target="/ppt/notesSlides/notesSlide2.xml" Id="R2b2d5eebf8a14a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cb983e7e104c5d" /><Relationship Type="http://schemas.openxmlformats.org/officeDocument/2006/relationships/hyperlink" Target="https://www.consultant.ru/document/cons_doc_LAW_61801/" TargetMode="External" Id="Rda801dc0e364485c" /><Relationship Type="http://schemas.openxmlformats.org/officeDocument/2006/relationships/hyperlink" Target="https://publication.pravo.gov.ru/document/view/0001201212300007" TargetMode="External" Id="R01d3d623f6e24f57" /><Relationship Type="http://schemas.openxmlformats.org/officeDocument/2006/relationships/hyperlink" Target="https://publication.pravo.gov.ru/document/0001202504230011" TargetMode="External" Id="Reb0f4232a0ac4248" /><Relationship Type="http://schemas.openxmlformats.org/officeDocument/2006/relationships/hyperlink" Target="http://publication.pravo.gov.ru/Document/View/0001202209270013" TargetMode="External" Id="R318e8042944a4388" /><Relationship Type="http://schemas.openxmlformats.org/officeDocument/2006/relationships/notesSlide" Target="/ppt/notesSlides/notesSlide3.xml" Id="R1c54e19950ea44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5a465e75f74d9e" /><Relationship Type="http://schemas.openxmlformats.org/officeDocument/2006/relationships/notesSlide" Target="/ppt/notesSlides/notesSlide4.xml" Id="Rf6c0a72aaa904a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04fdc41e8b4d79" /><Relationship Type="http://schemas.openxmlformats.org/officeDocument/2006/relationships/image" Target="/ppt/media/image.png" Id="R4afc7c88edcb451e" /><Relationship Type="http://schemas.openxmlformats.org/officeDocument/2006/relationships/notesSlide" Target="/ppt/notesSlides/notesSlide5.xml" Id="R344c41c7f35c4e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5efb44ce814857" /><Relationship Type="http://schemas.openxmlformats.org/officeDocument/2006/relationships/notesSlide" Target="/ppt/notesSlides/notesSlide6.xml" Id="R11ab03048e0346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875770938d4475" /><Relationship Type="http://schemas.openxmlformats.org/officeDocument/2006/relationships/notesSlide" Target="/ppt/notesSlides/notesSlide7.xml" Id="Rab81eeec66b94e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d9433497c64090" /><Relationship Type="http://schemas.openxmlformats.org/officeDocument/2006/relationships/notesSlide" Target="/ppt/notesSlides/notesSlide8.xml" Id="R4b558bb7d05846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A0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92202-5D96-4064-9BD4-161BB10D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4782800" cy="8115300"/>
          </a:xfrm>
          <a:prstGeom xmlns:a="http://schemas.openxmlformats.org/drawingml/2006/main" prst="roundRect">
            <a:avLst>
              <a:gd name="adj" fmla="val 3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41C60-BCEC-4CB8-8D1A-E6E5777C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1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A944"/>
                </a:solidFill>
                <a:latin typeface="Arial"/>
                <a:ea typeface="Arial"/>
                <a:cs typeface="Arial"/>
              </a:rPr>
              <a:t>КОМАНДА «ПХУКЕТСКАЯ»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56C16-6026-4665-953D-26B9D5A2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055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Матвей Мусиенко — капитан</a:t>
            </a:r>
          </a:p>
          <a:p xmlns:a="http://schemas.openxmlformats.org/drawingml/2006/main">
            <a:pPr algn="r">
              <a:lnSpc>
                <a:spcPct val="113000"/>
              </a:lnSpc>
              <a:buNone/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Захар Толошный — участник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BBA67-F8D8-4CDD-B8AC-718C2B66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1314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210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Продуктовый хакатон «Точка сборки»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CFDF3-EB4D-4317-BAC2-60E6CAA1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13144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862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862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862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Методист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F3EB3-13DE-4519-81E9-BEA8CE60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1181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92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292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Программа курса и учебные материалы</a:t>
            </a:r>
          </a:p>
          <a:p xmlns:a="http://schemas.openxmlformats.org/drawingml/2006/main">
            <a:pPr algn="ctr">
              <a:lnSpc>
                <a:spcPct val="113000"/>
              </a:lnSpc>
              <a:buNone/>
              <a:defRPr sz="292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в одном рабочем пространстве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BF0E7-E03F-4E04-BBB4-9E294136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819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Кейс АЦР и GigaCowork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4A526-B1D4-4720-9C47-99A7B3D3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5819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7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Концепция / 15.10.2026</a:t>
            </a:r>
          </a:p>
        </p:txBody>
      </p:sp>
    </p:spTree>
    <p:extLst>
      <p:ext uri="{BB962C8B-B14F-4D97-AF65-F5344CB8AC3E}">
        <p14:creationId xmlns:p14="http://schemas.microsoft.com/office/powerpoint/2010/main" val="321142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1A0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12B7FD-2058-49B7-8843-4605321D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4782800" cy="8115300"/>
          </a:xfrm>
          <a:prstGeom xmlns:a="http://schemas.openxmlformats.org/drawingml/2006/main" prst="roundRect">
            <a:avLst>
              <a:gd name="adj" fmla="val 3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1D459-92E5-4F61-A72D-576ADA64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425" b="1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A944"/>
                </a:solidFill>
                <a:latin typeface="Arial"/>
                <a:ea typeface="Arial"/>
                <a:cs typeface="Arial"/>
              </a:rPr>
              <a:t>ВОПРОС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02EA9-E9FE-4C09-BB97-C5491434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386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60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Задача бизнеса и пользователь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C2B9A-8BD6-4600-8D9E-74730766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772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Методист / Пхукетская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EF764-0038-4A0F-A169-8E45CB1A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772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02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AF9E2-5015-4A8A-BF72-CE1E78EE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5238750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EEFAF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061C0-4404-4914-AF28-B576FED6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86050"/>
            <a:ext cx="4572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825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8250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2–8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DAE3F-88CC-42ED-8992-29032A7C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2435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850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недель на подготовку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850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одной программы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F73E47-2BCB-4D81-B22A-19B27A33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626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По данным АЦР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4C73F-B730-4006-89F4-E2CD4476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714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Методист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B1C5A3-2E6D-46D3-B3D8-C7B1DC24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14650"/>
            <a:ext cx="714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Собирает программу, часы и материалы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3E542B-1735-422F-9572-A0E50374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05225"/>
            <a:ext cx="714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Эксперт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126EE-0AC5-49BB-8C14-EDBF7A20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19575"/>
            <a:ext cx="714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Проверяет содержание и результаты обучения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D56ED-FDD8-47D7-919F-508CCDA0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10150"/>
            <a:ext cx="714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Руководитель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7FFB6-D541-4B07-B117-512591CC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24500"/>
            <a:ext cx="714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Утверждает программу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AC2CCA-9577-41F7-B51C-20DAECF8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924675"/>
            <a:ext cx="1352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Проблема: ошибки в часах, разрозненные файлы и повторные согласования.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0526A4-CFCD-45DE-9B0A-8E357E9B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7819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>
                <a:hlinkClick xmlns:r="http://schemas.openxmlformats.org/officeDocument/2006/relationships" r:id="Rd5b4571b3b9b4555"/>
              </a:rPr>
              <a:t>Источник: кейс АЦР</a:t>
            </a:r>
          </a:p>
        </p:txBody>
      </p:sp>
    </p:spTree>
    <p:extLst>
      <p:ext uri="{BB962C8B-B14F-4D97-AF65-F5344CB8AC3E}">
        <p14:creationId xmlns:p14="http://schemas.microsoft.com/office/powerpoint/2010/main" val="7895216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1A0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14276D-62FE-4B07-90A3-BE08DC47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4782800" cy="8115300"/>
          </a:xfrm>
          <a:prstGeom xmlns:a="http://schemas.openxmlformats.org/drawingml/2006/main" prst="roundRect">
            <a:avLst>
              <a:gd name="adj" fmla="val 3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4BD57-0AC5-4821-8BFA-3F9A6DA4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425" b="1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A944"/>
                </a:solidFill>
                <a:latin typeface="Arial"/>
                <a:ea typeface="Arial"/>
                <a:cs typeface="Arial"/>
              </a:rPr>
              <a:t>ВОПРОС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C995E-E57F-462A-8A41-34D5B18E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386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60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Требования кейса и законодательства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72B70-D831-4E52-B70C-7AB83706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772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Методист / Пхукетская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B0F99-167A-4C40-BDCC-C2ABB5B6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772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03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DAF82-5E94-4919-89C8-95629128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55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Полный комплект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7B471-1941-49E5-AF8D-A4F5F68B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19425"/>
            <a:ext cx="6572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Два шаблона АЦР, программы 16–500 часов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Референсы: DOCX, PDF и текст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Компетенции, планы, тесты, задания и слайды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Экспорт: DOCX, PPTX и 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FE445-FECE-48BC-89B6-E4B3266C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55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Контроль качества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BF69B-A519-4AD5-9FFC-376D59A4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19425"/>
            <a:ext cx="6191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Cloud.ru, без зарубежных API моделей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Структура и правки — с подтверждением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Автопроверка часов и связей материалов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Только подтверждённые источники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1F96D-6520-4D7B-9DE6-7D41258A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81700"/>
            <a:ext cx="13716000" cy="1543050"/>
          </a:xfrm>
          <a:prstGeom xmlns:a="http://schemas.openxmlformats.org/drawingml/2006/main" prst="roundRect">
            <a:avLst>
              <a:gd name="adj" fmla="val 13580"/>
            </a:avLst>
          </a:prstGeom>
          <a:solidFill xmlns:a="http://schemas.openxmlformats.org/drawingml/2006/main">
            <a:srgbClr val="EEFAF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CE230-880F-4578-AED8-C6E62C95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191250"/>
            <a:ext cx="1285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25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273-ФЗ и приказы № 266 / № 629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11624-B612-46DF-934C-AFF0B6E7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772275"/>
            <a:ext cx="12858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9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152-ФЗ: минимизация персональных данных, ограничение доступа и защита.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9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Учебные примеры — на обезличенных данных.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A38404-8C29-414E-BEEF-591D0C95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819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>
                <a:hlinkClick xmlns:r="http://schemas.openxmlformats.org/officeDocument/2006/relationships" r:id="Rda801dc0e364485c"/>
              </a:rPr>
              <a:t>152-ФЗ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1087C7-E18B-4CFA-86AC-875B0F4C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7819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>
                <a:hlinkClick xmlns:r="http://schemas.openxmlformats.org/officeDocument/2006/relationships" r:id="R01d3d623f6e24f57"/>
              </a:rPr>
              <a:t>273-ФЗ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BD4B8B-15CC-4CDA-926F-39A06008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77819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>
                <a:hlinkClick xmlns:r="http://schemas.openxmlformats.org/officeDocument/2006/relationships" r:id="Reb0f4232a0ac4248"/>
              </a:rPr>
              <a:t>Приказ № 266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38D3A6-59D0-4BBA-8088-561B81F1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77819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>
                <a:hlinkClick xmlns:r="http://schemas.openxmlformats.org/officeDocument/2006/relationships" r:id="R318e8042944a4388"/>
              </a:rPr>
              <a:t>Приказ № 629</a:t>
            </a:r>
          </a:p>
        </p:txBody>
      </p:sp>
    </p:spTree>
    <p:extLst>
      <p:ext uri="{BB962C8B-B14F-4D97-AF65-F5344CB8AC3E}">
        <p14:creationId xmlns:p14="http://schemas.microsoft.com/office/powerpoint/2010/main" val="21218904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1A0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4C0A35-E18F-4877-98C6-E7E87AAC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4782800" cy="8115300"/>
          </a:xfrm>
          <a:prstGeom xmlns:a="http://schemas.openxmlformats.org/drawingml/2006/main" prst="roundRect">
            <a:avLst>
              <a:gd name="adj" fmla="val 3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27455-9FD0-4FB6-B14E-3C36CC06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425" b="1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A944"/>
                </a:solidFill>
                <a:latin typeface="Arial"/>
                <a:ea typeface="Arial"/>
                <a:cs typeface="Arial"/>
              </a:rPr>
              <a:t>ВОПРОС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E1E46-2A39-4CAA-B3D0-9FD8194C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386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60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Как работает «Методист»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FC663-DB79-4542-8FE4-AB624D8E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772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Методист / Пхукетская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1CE65-BFEF-4BD3-835C-3A01EAE6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772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04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46A3D-EB0F-45E1-94C3-8D48AA58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904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3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7F562-CDD8-4149-94F2-C95D5B8C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524125"/>
            <a:ext cx="561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Задать курс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680A6-3979-4B10-A18F-929DD993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33750"/>
            <a:ext cx="561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Загрузить файлы и уточнить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недостающие параметры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6961C8-19AB-4C41-A148-3046DDF3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24125"/>
            <a:ext cx="904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3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69D71-141B-40E3-BF0B-DC350584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24125"/>
            <a:ext cx="561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Согласовать структуру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66A134-FB47-41CB-B1D7-B6CAB05A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33750"/>
            <a:ext cx="561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Цель, компетенции, темы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и распределение часов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B91B6-C9E8-44FF-BBBD-08A2518C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904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3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37AB2D-C876-4FA2-9774-F1A8C80E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57750"/>
            <a:ext cx="561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Получить весь комплект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6EF5C-20A9-435A-8DE0-5A6B0B75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67375"/>
            <a:ext cx="561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Программа, тесты, задания,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лекции и слайды с автопроверкой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873B0-79E8-4BCE-929B-15DEA3F9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57750"/>
            <a:ext cx="904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3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6551CF-5329-4B03-B564-7289C077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857750"/>
            <a:ext cx="561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Внести правки и выгрузить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A3CD3-4DFD-4C50-AC75-D9B8A89F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667375"/>
            <a:ext cx="561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Самостоятельно или через ИИ.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Связанные изменения — одним пакетом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C7DA9B-1357-43C0-ADF4-2B170F60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7600950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95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Пример: анализ данных на Python для сотрудников банка, 72 часа</a:t>
            </a:r>
          </a:p>
        </p:txBody>
      </p:sp>
    </p:spTree>
    <p:extLst>
      <p:ext uri="{BB962C8B-B14F-4D97-AF65-F5344CB8AC3E}">
        <p14:creationId xmlns:p14="http://schemas.microsoft.com/office/powerpoint/2010/main" val="15848911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1A0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6EB5D-E26B-41BE-8D5A-5CEEFF5E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4782800" cy="8115300"/>
          </a:xfrm>
          <a:prstGeom xmlns:a="http://schemas.openxmlformats.org/drawingml/2006/main" prst="roundRect">
            <a:avLst>
              <a:gd name="adj" fmla="val 3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057E3-0F39-4CF3-9F4D-AEE363C1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425" b="1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A944"/>
                </a:solidFill>
                <a:latin typeface="Arial"/>
                <a:ea typeface="Arial"/>
                <a:cs typeface="Arial"/>
              </a:rPr>
              <a:t>ВОПРОС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FC08B-D630-403C-9404-025EE707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386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60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Рабочее пространство методиста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A2996-C7D5-482F-AE04-716F91B1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772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Методист / Пхукетская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0AFD5-751A-47E7-8D45-7E16EEE0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772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05 / 08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A26FD-21A8-49FA-9602-122A76CE28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fc7c88edcb451e"/>
          <a:stretch xmlns:a="http://schemas.openxmlformats.org/drawingml/2006/main"/>
        </p:blipFill>
        <p:spPr>
          <a:xfrm xmlns:a="http://schemas.openxmlformats.org/drawingml/2006/main">
            <a:off x="2594602" y="1552575"/>
            <a:ext cx="10050795" cy="628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5B943-8C88-4C8C-8F49-09378786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15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Концепт интерфейса / заполненный курс на 72 часа</a:t>
            </a:r>
          </a:p>
        </p:txBody>
      </p:sp>
    </p:spTree>
    <p:extLst>
      <p:ext uri="{BB962C8B-B14F-4D97-AF65-F5344CB8AC3E}">
        <p14:creationId xmlns:p14="http://schemas.microsoft.com/office/powerpoint/2010/main" val="6706319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1A0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8A510-9639-48CA-AD2F-5B16BC28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4782800" cy="8115300"/>
          </a:xfrm>
          <a:prstGeom xmlns:a="http://schemas.openxmlformats.org/drawingml/2006/main" prst="roundRect">
            <a:avLst>
              <a:gd name="adj" fmla="val 3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939D4-3D68-49A1-9FE5-44340A8E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425" b="1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A944"/>
                </a:solidFill>
                <a:latin typeface="Arial"/>
                <a:ea typeface="Arial"/>
                <a:cs typeface="Arial"/>
              </a:rPr>
              <a:t>ВОПРОС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0E790-CD6B-4FC1-AD19-0057578C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386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60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Меньше времени на подготовку курса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D8E0B-F133-4591-8D83-D844F664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772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Методист / Пхукетская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9550A-D432-4678-AD20-EE1617D6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772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06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C9841-C37A-4315-B7EF-619BB617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5048250" cy="4000500"/>
          </a:xfrm>
          <a:prstGeom xmlns:a="http://schemas.openxmlformats.org/drawingml/2006/main" prst="roundRect">
            <a:avLst>
              <a:gd name="adj" fmla="val 5238"/>
            </a:avLst>
          </a:prstGeom>
          <a:solidFill xmlns:a="http://schemas.openxmlformats.org/drawingml/2006/main">
            <a:srgbClr val="EEFAF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B7808-0FFA-44C1-8ADE-DCCE633C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819400"/>
            <a:ext cx="4333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65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765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7650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от 7×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02528-5B4B-42A8-BC39-02062870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419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62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цель ускорения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62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подготовки курса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D6B7EA-3779-4241-ADDE-4916CD4E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0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Сейчас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E9C39-2F8B-486B-B4B6-633E4A04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704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4500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2–8 недель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BB465-4218-4439-9496-ABDDAA06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1960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0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Цель с сервисом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3EB797-E561-48B2-9449-02056EFB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24425"/>
            <a:ext cx="704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450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1–2 дня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9C6DF-8ABC-4D5B-B43B-E7A241F5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867400"/>
            <a:ext cx="704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До 20 минут на генерацию,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затем проверка и адресные правки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016D6B-B904-4A79-BCBE-691A8FF6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86650"/>
            <a:ext cx="1362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Гипотеза: 14 календарных дней / 2 дня = 7. Экономию затрат измерим в пилоте.</a:t>
            </a:r>
          </a:p>
        </p:txBody>
      </p:sp>
    </p:spTree>
    <p:extLst>
      <p:ext uri="{BB962C8B-B14F-4D97-AF65-F5344CB8AC3E}">
        <p14:creationId xmlns:p14="http://schemas.microsoft.com/office/powerpoint/2010/main" val="13406831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1A0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BF344B-39B8-44EF-B9F4-84B26B85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4782800" cy="8115300"/>
          </a:xfrm>
          <a:prstGeom xmlns:a="http://schemas.openxmlformats.org/drawingml/2006/main" prst="roundRect">
            <a:avLst>
              <a:gd name="adj" fmla="val 3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7F51F-1E68-4C78-BF25-74CB07F0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425" b="1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A944"/>
                </a:solidFill>
                <a:latin typeface="Arial"/>
                <a:ea typeface="Arial"/>
                <a:cs typeface="Arial"/>
              </a:rPr>
              <a:t>ВОПРОС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D01E2-411B-4740-AA4A-725434EF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386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60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Готовность первой итерации к работе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CB69B-E2FC-42DD-950D-CD4D4B24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772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Методист / Пхукетская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C6A27-4CE6-4001-8252-722BB9C0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772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07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3C2B1-C142-42E1-A08E-306B6FC1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450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≥90%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B09A1-746C-4271-B50F-5B13B26D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47925"/>
            <a:ext cx="8143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00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материалов без существенной переработки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2B664-FB49-4126-A849-30B24332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450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7180F0-E4C1-47C8-A376-765A68C2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48075"/>
            <a:ext cx="8143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00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расхождений в часах и непроверенных источников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77AE5-B850-4019-9702-8F1919F8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33925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6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3675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≤3 / ≤20 мин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A25DA2-80DB-4422-AA5C-B10C8568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48225"/>
            <a:ext cx="8143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00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каркас / комплект курса на 72 часа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6ED14F-A2C8-4288-A5C7-AD40EBBD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34075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450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1–2 дня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3FC248-2261-437B-B748-8F595BA2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048375"/>
            <a:ext cx="8143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00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полный цикл подготовки с проверкой человеком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21FCF-FD9A-4AB0-B11F-33B82B71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458075"/>
            <a:ext cx="1333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Пилот: доля исправлений, время методиста, стоимость ИИ.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Все значения — цели, а не результаты испытаний.</a:t>
            </a:r>
          </a:p>
        </p:txBody>
      </p:sp>
    </p:spTree>
    <p:extLst>
      <p:ext uri="{BB962C8B-B14F-4D97-AF65-F5344CB8AC3E}">
        <p14:creationId xmlns:p14="http://schemas.microsoft.com/office/powerpoint/2010/main" val="18922010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1A0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81FA1-201E-4A5F-B0D9-A233DEA8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76300"/>
            <a:ext cx="13620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4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64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4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Методист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74990-D56E-49FC-A4F4-B6C87CE8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33700"/>
            <a:ext cx="1362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4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Комплект курса,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4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готовый к экспертной проверке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5D659-1208-4FB9-9A17-0D86BE2E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924550"/>
            <a:ext cx="1352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5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Спасибо за внимание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07794-249C-420F-87EE-9ACC8331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7181850"/>
            <a:ext cx="1295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Команда «Пхукетская»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Матвей Мусиенко и Захар Толошный</a:t>
            </a:r>
          </a:p>
        </p:txBody>
      </p:sp>
    </p:spTree>
    <p:extLst>
      <p:ext uri="{BB962C8B-B14F-4D97-AF65-F5344CB8AC3E}">
        <p14:creationId xmlns:p14="http://schemas.microsoft.com/office/powerpoint/2010/main" val="9715392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2026-10-15T13:45:02.2070000Z</dcterms:created>
  <dcterms:modified xsi:type="dcterms:W3CDTF">2026-10-15T13:45:02.2070000Z</dcterms:modified>
</coreProperties>
</file>